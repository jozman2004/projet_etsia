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4"/>
  </p:notesMasterIdLst>
  <p:sldIdLst>
    <p:sldId id="256" r:id="rId2"/>
    <p:sldId id="411" r:id="rId3"/>
    <p:sldId id="278" r:id="rId4"/>
    <p:sldId id="410" r:id="rId5"/>
    <p:sldId id="389" r:id="rId6"/>
    <p:sldId id="257" r:id="rId7"/>
    <p:sldId id="441" r:id="rId8"/>
    <p:sldId id="285" r:id="rId9"/>
    <p:sldId id="414" r:id="rId10"/>
    <p:sldId id="391" r:id="rId11"/>
    <p:sldId id="412" r:id="rId12"/>
    <p:sldId id="413" r:id="rId13"/>
    <p:sldId id="415" r:id="rId14"/>
    <p:sldId id="416" r:id="rId15"/>
    <p:sldId id="443" r:id="rId16"/>
    <p:sldId id="444" r:id="rId17"/>
    <p:sldId id="417" r:id="rId18"/>
    <p:sldId id="418" r:id="rId19"/>
    <p:sldId id="419" r:id="rId20"/>
    <p:sldId id="420" r:id="rId21"/>
    <p:sldId id="421" r:id="rId22"/>
    <p:sldId id="422" r:id="rId23"/>
    <p:sldId id="423" r:id="rId24"/>
    <p:sldId id="424" r:id="rId25"/>
    <p:sldId id="425" r:id="rId26"/>
    <p:sldId id="426" r:id="rId27"/>
    <p:sldId id="427" r:id="rId28"/>
    <p:sldId id="428" r:id="rId29"/>
    <p:sldId id="429" r:id="rId30"/>
    <p:sldId id="430" r:id="rId31"/>
    <p:sldId id="442" r:id="rId32"/>
    <p:sldId id="431" r:id="rId33"/>
    <p:sldId id="432" r:id="rId34"/>
    <p:sldId id="433" r:id="rId35"/>
    <p:sldId id="434" r:id="rId36"/>
    <p:sldId id="435" r:id="rId37"/>
    <p:sldId id="436" r:id="rId38"/>
    <p:sldId id="437" r:id="rId39"/>
    <p:sldId id="438" r:id="rId40"/>
    <p:sldId id="440" r:id="rId41"/>
    <p:sldId id="402" r:id="rId42"/>
    <p:sldId id="401" r:id="rId43"/>
  </p:sldIdLst>
  <p:sldSz cx="18288000" cy="10287000"/>
  <p:notesSz cx="6858000" cy="9144000"/>
  <p:embeddedFontLs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DM Sans" panose="020B0604020202020204" charset="0"/>
      <p:regular r:id="rId49"/>
      <p:bold r:id="rId50"/>
      <p:italic r:id="rId51"/>
      <p:boldItalic r:id="rId52"/>
    </p:embeddedFont>
    <p:embeddedFont>
      <p:font typeface="DM Sans 14pt" pitchFamily="2" charset="0"/>
      <p:regular r:id="rId53"/>
      <p:bold r:id="rId54"/>
      <p:italic r:id="rId55"/>
      <p:boldItalic r:id="rId56"/>
    </p:embeddedFont>
    <p:embeddedFont>
      <p:font typeface="DM Sans 14pt Medium" pitchFamily="2" charset="0"/>
      <p:regular r:id="rId57"/>
      <p:italic r:id="rId58"/>
    </p:embeddedFont>
    <p:embeddedFont>
      <p:font typeface="DM Serif Display" pitchFamily="2" charset="0"/>
      <p:regular r:id="rId59"/>
      <p:italic r:id="rId60"/>
    </p:embeddedFont>
    <p:embeddedFont>
      <p:font typeface="DM Serif Display Regular" pitchFamily="2" charset="0"/>
      <p:regular r:id="rId61"/>
    </p:embeddedFont>
    <p:embeddedFont>
      <p:font typeface="Glory" pitchFamily="2" charset="0"/>
      <p:regular r:id="rId62"/>
      <p:bold r:id="rId63"/>
      <p:italic r:id="rId64"/>
      <p:boldItalic r:id="rId65"/>
    </p:embeddedFont>
    <p:embeddedFont>
      <p:font typeface="Lato" panose="020F0502020204030203" pitchFamily="34" charset="0"/>
      <p:regular r:id="rId66"/>
      <p:bold r:id="rId67"/>
      <p:italic r:id="rId68"/>
      <p:boldItalic r:id="rId69"/>
    </p:embeddedFont>
    <p:embeddedFont>
      <p:font typeface="Roboto Bold" panose="020B0604020202020204" charset="0"/>
      <p:regular r:id="rId7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622"/>
    <a:srgbClr val="091023"/>
    <a:srgbClr val="121223"/>
    <a:srgbClr val="FFFFFF"/>
    <a:srgbClr val="BFBDAB"/>
    <a:srgbClr val="DBF2F8"/>
    <a:srgbClr val="EDF2F5"/>
    <a:srgbClr val="1D4855"/>
    <a:srgbClr val="DDF1F8"/>
    <a:srgbClr val="2436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54907" autoAdjust="0"/>
  </p:normalViewPr>
  <p:slideViewPr>
    <p:cSldViewPr>
      <p:cViewPr>
        <p:scale>
          <a:sx n="50" d="100"/>
          <a:sy n="50" d="100"/>
        </p:scale>
        <p:origin x="26" y="-8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63" Type="http://schemas.openxmlformats.org/officeDocument/2006/relationships/font" Target="fonts/font19.fntdata"/><Relationship Id="rId68" Type="http://schemas.openxmlformats.org/officeDocument/2006/relationships/font" Target="fonts/font2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66" Type="http://schemas.openxmlformats.org/officeDocument/2006/relationships/font" Target="fonts/font22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1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font" Target="fonts/font20.fntdata"/><Relationship Id="rId69" Type="http://schemas.openxmlformats.org/officeDocument/2006/relationships/font" Target="fonts/font25.fntdata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67" Type="http://schemas.openxmlformats.org/officeDocument/2006/relationships/font" Target="fonts/font2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openxmlformats.org/officeDocument/2006/relationships/font" Target="fonts/font18.fntdata"/><Relationship Id="rId70" Type="http://schemas.openxmlformats.org/officeDocument/2006/relationships/font" Target="fonts/font2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65" Type="http://schemas.openxmlformats.org/officeDocument/2006/relationships/font" Target="fonts/font21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CE9AD-6B09-4E74-AFD1-280EA3456716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07619-1082-4ECA-86F6-6ECD080A500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460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07619-1082-4ECA-86F6-6ECD080A500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7826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3cba2192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c3cba21922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Dans le cadre de notre projet ETSIA, notre groupe a réalisé le plan projet complet de la version 2 de la plateforme YANSNET, un réseau social destiné à améliorer la communication et le bien-être au sein de la communauté académique. L’objectif est de proposer un projet cohérent, réaliste et pilotable, aussi bien sur le plan technique qu’organisationnel.</a:t>
            </a:r>
            <a:endParaRPr dirty="0"/>
          </a:p>
        </p:txBody>
      </p:sp>
      <p:sp>
        <p:nvSpPr>
          <p:cNvPr id="68" name="Google Shape;68;g2c3cba21922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406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bb1949ee2e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2bb1949ee2e_0_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g2bb1949ee2e_0_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1021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3cba2192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c3cba21922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g2c3cba21922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6217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3cba2192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c3cba21922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g2c3cba21922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4880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3cba21922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c3cba21922_0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c3cba21922_0_4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3cba21922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c3cba21922_0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c3cba21922_0_4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678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3cba21922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c3cba21922_0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c3cba21922_0_4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8834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3cba2192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c3cba21922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g2c3cba21922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5618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3cba21922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c3cba21922_0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1" name="Google Shape;431;g2c3cba21922_0_4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0859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3cba2192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c3cba21922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g2c3cba21922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5362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3cba21922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c3cba21922_0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c3cba21922_0_4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08854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3cba2192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c3cba21922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g2c3cba21922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83188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3cba21922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c3cba21922_0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c3cba21922_0_4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2450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3cba21922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c3cba21922_0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c3cba21922_0_4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86172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3cba21922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c3cba21922_0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c3cba21922_0_4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81466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3cba21922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c3cba21922_0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c3cba21922_0_4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77529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3cba2192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c3cba21922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g2c3cba21922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65359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3cba21922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c3cba21922_0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c3cba21922_0_4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1187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3cba21922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c3cba21922_0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c3cba21922_0_4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90002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3cba2192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c3cba21922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g2c3cba21922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56073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3cba21922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c3cba21922_0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c3cba21922_0_4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30823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3cba2192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c3cba21922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g2c3cba21922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04426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3cba21922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c3cba21922_0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c3cba21922_0_4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48076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3cba21922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c3cba21922_0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c3cba21922_0_4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39319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3cba2192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c3cba21922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g2c3cba21922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46138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3cba21922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c3cba21922_0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c3cba21922_0_4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77069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3cba21922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c3cba21922_0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c3cba21922_0_4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91512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3cba2192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c3cba21922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g2c3cba21922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07239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3cba21922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c3cba21922_0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c3cba21922_0_4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58317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3cba2192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c3cba21922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g2c3cba21922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8132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3cba21922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c3cba21922_0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c3cba21922_0_4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01869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3cba2192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c3cba21922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g2c3cba21922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40969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c3cba21922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c3cba21922_0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c3cba21922_0_4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97065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YANSNET est un projet structuré et cohérent, au service de la communauté </a:t>
            </a:r>
            <a:r>
              <a:rPr lang="fr-FR" dirty="0" err="1"/>
              <a:t>étudiante.Les</a:t>
            </a:r>
            <a:r>
              <a:rPr lang="fr-FR" dirty="0"/>
              <a:t> travaux d’analyse, de modélisation et de planification réalisés constituent une base fiable pour le passage à une phase de réalisation concrète.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07619-1082-4ECA-86F6-6ECD080A500F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0253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445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/>
          <p:cNvSpPr/>
          <p:nvPr/>
        </p:nvSpPr>
        <p:spPr>
          <a:xfrm>
            <a:off x="7338777" y="3344462"/>
            <a:ext cx="9958623" cy="5228038"/>
          </a:xfrm>
          <a:custGeom>
            <a:avLst/>
            <a:gdLst/>
            <a:ahLst/>
            <a:cxnLst/>
            <a:rect l="l" t="t" r="r" b="b"/>
            <a:pathLst>
              <a:path w="9752267" h="4708491">
                <a:moveTo>
                  <a:pt x="0" y="0"/>
                </a:moveTo>
                <a:lnTo>
                  <a:pt x="9752267" y="0"/>
                </a:lnTo>
                <a:lnTo>
                  <a:pt x="9752267" y="4708491"/>
                </a:lnTo>
                <a:lnTo>
                  <a:pt x="0" y="47084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4000"/>
            </a:blip>
            <a:stretch>
              <a:fillRect t="-34821" r="-11415" b="-949"/>
            </a:stretch>
          </a:blipFill>
        </p:spPr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67FC49A9-FCF6-4D84-813D-8681CC901610}"/>
              </a:ext>
            </a:extLst>
          </p:cNvPr>
          <p:cNvSpPr/>
          <p:nvPr/>
        </p:nvSpPr>
        <p:spPr>
          <a:xfrm>
            <a:off x="-2503437" y="4874381"/>
            <a:ext cx="9958623" cy="5228038"/>
          </a:xfrm>
          <a:custGeom>
            <a:avLst/>
            <a:gdLst/>
            <a:ahLst/>
            <a:cxnLst/>
            <a:rect l="l" t="t" r="r" b="b"/>
            <a:pathLst>
              <a:path w="9752267" h="4708491">
                <a:moveTo>
                  <a:pt x="0" y="0"/>
                </a:moveTo>
                <a:lnTo>
                  <a:pt x="9752267" y="0"/>
                </a:lnTo>
                <a:lnTo>
                  <a:pt x="9752267" y="4708491"/>
                </a:lnTo>
                <a:lnTo>
                  <a:pt x="0" y="47084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4000"/>
            </a:blip>
            <a:stretch>
              <a:fillRect t="-34821" r="-11415" b="-949"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7258448" y="1324807"/>
            <a:ext cx="10038952" cy="6998498"/>
          </a:xfrm>
          <a:custGeom>
            <a:avLst/>
            <a:gdLst/>
            <a:ahLst/>
            <a:cxnLst/>
            <a:rect l="l" t="t" r="r" b="b"/>
            <a:pathLst>
              <a:path w="9735668" h="6940376">
                <a:moveTo>
                  <a:pt x="0" y="0"/>
                </a:moveTo>
                <a:lnTo>
                  <a:pt x="9735668" y="0"/>
                </a:lnTo>
                <a:lnTo>
                  <a:pt x="9735668" y="6940376"/>
                </a:lnTo>
                <a:lnTo>
                  <a:pt x="0" y="69403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960" r="-11597" b="-2336"/>
            </a:stretch>
          </a:blipFill>
        </p:spPr>
        <p:txBody>
          <a:bodyPr/>
          <a:lstStyle/>
          <a:p>
            <a:endParaRPr lang="fr-FR" dirty="0"/>
          </a:p>
        </p:txBody>
      </p:sp>
      <p:grpSp>
        <p:nvGrpSpPr>
          <p:cNvPr id="3" name="Group 3"/>
          <p:cNvGrpSpPr/>
          <p:nvPr/>
        </p:nvGrpSpPr>
        <p:grpSpPr>
          <a:xfrm>
            <a:off x="-125370" y="7136935"/>
            <a:ext cx="3582664" cy="3266194"/>
            <a:chOff x="0" y="0"/>
            <a:chExt cx="1077844" cy="9826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77844" cy="982634"/>
            </a:xfrm>
            <a:custGeom>
              <a:avLst/>
              <a:gdLst/>
              <a:ahLst/>
              <a:cxnLst/>
              <a:rect l="l" t="t" r="r" b="b"/>
              <a:pathLst>
                <a:path w="1077844" h="982634">
                  <a:moveTo>
                    <a:pt x="0" y="0"/>
                  </a:moveTo>
                  <a:lnTo>
                    <a:pt x="1077844" y="0"/>
                  </a:lnTo>
                  <a:lnTo>
                    <a:pt x="1077844" y="982634"/>
                  </a:lnTo>
                  <a:lnTo>
                    <a:pt x="0" y="982634"/>
                  </a:lnTo>
                  <a:close/>
                </a:path>
              </a:pathLst>
            </a:custGeom>
            <a:solidFill>
              <a:srgbClr val="20202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77844" cy="1020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-2544189" y="2688154"/>
            <a:ext cx="10040128" cy="4350806"/>
          </a:xfrm>
          <a:custGeom>
            <a:avLst/>
            <a:gdLst/>
            <a:ahLst/>
            <a:cxnLst/>
            <a:rect l="l" t="t" r="r" b="b"/>
            <a:pathLst>
              <a:path w="10040128" h="4350806">
                <a:moveTo>
                  <a:pt x="0" y="0"/>
                </a:moveTo>
                <a:lnTo>
                  <a:pt x="10040128" y="0"/>
                </a:lnTo>
                <a:lnTo>
                  <a:pt x="10040128" y="4350806"/>
                </a:lnTo>
                <a:lnTo>
                  <a:pt x="0" y="4350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4821" b="-949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85265" y="-156508"/>
            <a:ext cx="6991788" cy="9916303"/>
            <a:chOff x="0" y="0"/>
            <a:chExt cx="1841458" cy="2611701"/>
          </a:xfrm>
          <a:solidFill>
            <a:srgbClr val="BFBDAB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1841459" cy="2611701"/>
            </a:xfrm>
            <a:custGeom>
              <a:avLst/>
              <a:gdLst/>
              <a:ahLst/>
              <a:cxnLst/>
              <a:rect l="l" t="t" r="r" b="b"/>
              <a:pathLst>
                <a:path w="1841459" h="2611701">
                  <a:moveTo>
                    <a:pt x="0" y="0"/>
                  </a:moveTo>
                  <a:lnTo>
                    <a:pt x="1841459" y="0"/>
                  </a:lnTo>
                  <a:lnTo>
                    <a:pt x="1841459" y="2611701"/>
                  </a:lnTo>
                  <a:lnTo>
                    <a:pt x="0" y="2611701"/>
                  </a:lnTo>
                  <a:close/>
                </a:path>
              </a:pathLst>
            </a:custGeom>
            <a:grpFill/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841458" cy="264980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311011" y="4610100"/>
            <a:ext cx="5517638" cy="0"/>
          </a:xfrm>
          <a:prstGeom prst="line">
            <a:avLst/>
          </a:prstGeom>
          <a:ln>
            <a:solidFill>
              <a:schemeClr val="tx1"/>
            </a:solidFill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sp>
        <p:nvSpPr>
          <p:cNvPr id="11" name="TextBox 11"/>
          <p:cNvSpPr txBox="1"/>
          <p:nvPr/>
        </p:nvSpPr>
        <p:spPr>
          <a:xfrm>
            <a:off x="1292424" y="6615124"/>
            <a:ext cx="6359969" cy="2232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2"/>
              </a:lnSpc>
            </a:pPr>
            <a:r>
              <a:rPr lang="en-US" sz="3173" b="1" dirty="0" err="1">
                <a:latin typeface="DM Sans 14pt Medium" pitchFamily="2" charset="0"/>
                <a:ea typeface="Poppins"/>
                <a:cs typeface="Poppins"/>
                <a:sym typeface="Poppins"/>
              </a:rPr>
              <a:t>Présenté</a:t>
            </a:r>
            <a:r>
              <a:rPr lang="en-US" sz="3173" b="1" dirty="0">
                <a:latin typeface="DM Sans 14pt Medium" pitchFamily="2" charset="0"/>
                <a:ea typeface="Poppins"/>
                <a:cs typeface="Poppins"/>
                <a:sym typeface="Poppins"/>
              </a:rPr>
              <a:t> par </a:t>
            </a:r>
          </a:p>
          <a:p>
            <a:pPr algn="l">
              <a:lnSpc>
                <a:spcPts val="4442"/>
              </a:lnSpc>
            </a:pPr>
            <a:endParaRPr lang="en-US" sz="3173" b="1" dirty="0">
              <a:latin typeface="DM Sans 14pt Medium" pitchFamily="2" charset="0"/>
              <a:ea typeface="Poppins"/>
              <a:cs typeface="Poppins"/>
              <a:sym typeface="Poppins"/>
            </a:endParaRPr>
          </a:p>
          <a:p>
            <a:pPr algn="l">
              <a:lnSpc>
                <a:spcPts val="4442"/>
              </a:lnSpc>
            </a:pPr>
            <a:r>
              <a:rPr lang="en-US" sz="3173" b="1" dirty="0">
                <a:latin typeface="DM Sans 14pt Medium" pitchFamily="2" charset="0"/>
                <a:ea typeface="Poppins"/>
                <a:cs typeface="Poppins"/>
                <a:sym typeface="Poppins"/>
              </a:rPr>
              <a:t>Groupe </a:t>
            </a:r>
            <a:r>
              <a:rPr lang="en-US" sz="3173" b="1" dirty="0" err="1">
                <a:latin typeface="DM Sans 14pt Medium" pitchFamily="2" charset="0"/>
                <a:ea typeface="Poppins"/>
                <a:cs typeface="Poppins"/>
                <a:sym typeface="Poppins"/>
              </a:rPr>
              <a:t>Projet</a:t>
            </a:r>
            <a:r>
              <a:rPr lang="en-US" sz="3173" b="1" dirty="0">
                <a:latin typeface="DM Sans 14pt Medium" pitchFamily="2" charset="0"/>
                <a:ea typeface="Poppins"/>
                <a:cs typeface="Poppins"/>
                <a:sym typeface="Poppins"/>
              </a:rPr>
              <a:t> N°15</a:t>
            </a:r>
          </a:p>
          <a:p>
            <a:pPr algn="l">
              <a:lnSpc>
                <a:spcPts val="4442"/>
              </a:lnSpc>
            </a:pPr>
            <a:r>
              <a:rPr lang="en-US" sz="3173" b="1" dirty="0">
                <a:latin typeface="DM Sans 14pt Medium" pitchFamily="2" charset="0"/>
                <a:ea typeface="Poppins"/>
                <a:cs typeface="Poppins"/>
                <a:sym typeface="Poppins"/>
              </a:rPr>
              <a:t>X2027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6800" y="770918"/>
            <a:ext cx="5841058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8000" dirty="0">
                <a:latin typeface="DM Serif Display" pitchFamily="2" charset="0"/>
                <a:ea typeface="Roboto Bold"/>
                <a:cs typeface="Roboto Bold"/>
                <a:sym typeface="Roboto Bold"/>
              </a:rPr>
              <a:t>Présentation</a:t>
            </a:r>
          </a:p>
          <a:p>
            <a:pPr algn="l"/>
            <a:r>
              <a:rPr lang="en-US" sz="8000" dirty="0" err="1">
                <a:latin typeface="DM Serif Display" pitchFamily="2" charset="0"/>
                <a:ea typeface="Roboto Bold"/>
                <a:cs typeface="Roboto Bold"/>
                <a:sym typeface="Roboto Bold"/>
              </a:rPr>
              <a:t>Projet</a:t>
            </a:r>
            <a:r>
              <a:rPr lang="en-US" sz="8000" dirty="0">
                <a:latin typeface="DM Serif Display" pitchFamily="2" charset="0"/>
                <a:ea typeface="Roboto Bold"/>
                <a:cs typeface="Roboto Bold"/>
                <a:sym typeface="Roboto Bold"/>
              </a:rPr>
              <a:t> </a:t>
            </a:r>
          </a:p>
          <a:p>
            <a:pPr algn="l"/>
            <a:r>
              <a:rPr lang="en-US" sz="8000" dirty="0">
                <a:latin typeface="DM Serif Display" pitchFamily="2" charset="0"/>
                <a:ea typeface="Roboto Bold"/>
                <a:cs typeface="Roboto Bold"/>
                <a:sym typeface="Roboto Bold"/>
              </a:rPr>
              <a:t>ETSIA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32840" y="9182100"/>
            <a:ext cx="3826560" cy="34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02"/>
              </a:lnSpc>
            </a:pP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Vendredi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27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Juin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2025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539407F-0D97-4286-8B29-719A7F6DD0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16479"/>
            <a:ext cx="2503609" cy="727793"/>
          </a:xfrm>
          <a:prstGeom prst="rect">
            <a:avLst/>
          </a:prstGeom>
        </p:spPr>
      </p:pic>
      <p:sp>
        <p:nvSpPr>
          <p:cNvPr id="21" name="AutoShape 10">
            <a:extLst>
              <a:ext uri="{FF2B5EF4-FFF2-40B4-BE49-F238E27FC236}">
                <a16:creationId xmlns:a16="http://schemas.microsoft.com/office/drawing/2014/main" id="{5D44D258-0899-42FD-B552-762E952BF4F0}"/>
              </a:ext>
            </a:extLst>
          </p:cNvPr>
          <p:cNvSpPr/>
          <p:nvPr/>
        </p:nvSpPr>
        <p:spPr>
          <a:xfrm>
            <a:off x="1300324" y="5524500"/>
            <a:ext cx="5517638" cy="0"/>
          </a:xfrm>
          <a:prstGeom prst="line">
            <a:avLst/>
          </a:prstGeom>
          <a:ln>
            <a:solidFill>
              <a:schemeClr val="tx1"/>
            </a:solidFill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625D5BA3-B7E2-470C-A42E-DAE63E0797E0}"/>
              </a:ext>
            </a:extLst>
          </p:cNvPr>
          <p:cNvSpPr txBox="1"/>
          <p:nvPr/>
        </p:nvSpPr>
        <p:spPr>
          <a:xfrm>
            <a:off x="1101455" y="4797504"/>
            <a:ext cx="5936749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dirty="0">
                <a:latin typeface="DM Serif Display" pitchFamily="2" charset="0"/>
                <a:ea typeface="Roboto Bold"/>
                <a:cs typeface="Roboto Bold"/>
                <a:sym typeface="Roboto Bold"/>
              </a:rPr>
              <a:t>“YANSNET APPLICATION”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A93D55-5B9C-4B89-8A01-82D089AFB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5250" cy="10287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0D9B8F4-4E66-4C80-8932-138FD5707C29}"/>
              </a:ext>
            </a:extLst>
          </p:cNvPr>
          <p:cNvSpPr/>
          <p:nvPr/>
        </p:nvSpPr>
        <p:spPr>
          <a:xfrm>
            <a:off x="8763000" y="1485900"/>
            <a:ext cx="11069976" cy="133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6000" dirty="0" err="1">
                <a:latin typeface="DM Serif Display Regular" pitchFamily="34" charset="0"/>
                <a:ea typeface="DM Serif Display Regular" pitchFamily="34" charset="-122"/>
                <a:cs typeface="DM Serif Display Regular" pitchFamily="34" charset="-120"/>
              </a:rPr>
              <a:t>Membres</a:t>
            </a:r>
            <a:r>
              <a:rPr lang="en-US" sz="6000" dirty="0">
                <a:latin typeface="DM Serif Display Regular" pitchFamily="34" charset="0"/>
                <a:ea typeface="DM Serif Display Regular" pitchFamily="34" charset="-122"/>
                <a:cs typeface="DM Serif Display Regular" pitchFamily="34" charset="-120"/>
              </a:rPr>
              <a:t> du </a:t>
            </a:r>
            <a:r>
              <a:rPr lang="en-US" sz="6000" dirty="0" err="1">
                <a:latin typeface="DM Serif Display Regular" pitchFamily="34" charset="0"/>
                <a:ea typeface="DM Serif Display Regular" pitchFamily="34" charset="-122"/>
                <a:cs typeface="DM Serif Display Regular" pitchFamily="34" charset="-120"/>
              </a:rPr>
              <a:t>groupe</a:t>
            </a:r>
            <a:endParaRPr lang="en-US" sz="6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BD008EF-0178-466F-8B12-B26405CCB1E3}"/>
              </a:ext>
            </a:extLst>
          </p:cNvPr>
          <p:cNvSpPr/>
          <p:nvPr/>
        </p:nvSpPr>
        <p:spPr>
          <a:xfrm>
            <a:off x="8991600" y="3805193"/>
            <a:ext cx="11069976" cy="133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DM Serif Display Regular" pitchFamily="34" charset="0"/>
                <a:ea typeface="DM Serif Display Regular" pitchFamily="34" charset="-122"/>
                <a:cs typeface="DM Serif Display Regular" pitchFamily="34" charset="-120"/>
              </a:rPr>
              <a:t>MAKONGNE July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DM Serif Display Regular" pitchFamily="34" charset="0"/>
              </a:rPr>
              <a:t>NANKAP </a:t>
            </a:r>
            <a:r>
              <a:rPr lang="en-US" sz="3200" dirty="0" err="1">
                <a:latin typeface="DM Serif Display Regular" pitchFamily="34" charset="0"/>
              </a:rPr>
              <a:t>Loic</a:t>
            </a:r>
            <a:endParaRPr lang="en-US" sz="3200" dirty="0">
              <a:latin typeface="DM Serif Display Regular" pitchFamily="34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DM Serif Display Regular" pitchFamily="34" charset="0"/>
              </a:rPr>
              <a:t>NKOULOU Joseph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DM Serif Display Regular" pitchFamily="34" charset="0"/>
              </a:rPr>
              <a:t>NOUNGOUA Steven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DM Serif Display Regular" pitchFamily="34" charset="0"/>
              </a:rPr>
              <a:t>TOFA Lionel</a:t>
            </a:r>
            <a:endParaRPr lang="en-US" sz="3200" dirty="0"/>
          </a:p>
        </p:txBody>
      </p:sp>
      <p:sp>
        <p:nvSpPr>
          <p:cNvPr id="7" name="Google Shape;26;g265f3743778_0_9">
            <a:extLst>
              <a:ext uri="{FF2B5EF4-FFF2-40B4-BE49-F238E27FC236}">
                <a16:creationId xmlns:a16="http://schemas.microsoft.com/office/drawing/2014/main" id="{0AA1FB6A-F4F8-49FF-B286-1C3F94B727CF}"/>
              </a:ext>
            </a:extLst>
          </p:cNvPr>
          <p:cNvSpPr/>
          <p:nvPr/>
        </p:nvSpPr>
        <p:spPr>
          <a:xfrm>
            <a:off x="17455740" y="6437195"/>
            <a:ext cx="1016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lory" pitchFamily="2" charset="0"/>
            </a:endParaRPr>
          </a:p>
        </p:txBody>
      </p:sp>
      <p:sp>
        <p:nvSpPr>
          <p:cNvPr id="10" name="Oval 1">
            <a:extLst>
              <a:ext uri="{FF2B5EF4-FFF2-40B4-BE49-F238E27FC236}">
                <a16:creationId xmlns:a16="http://schemas.microsoft.com/office/drawing/2014/main" id="{20A1C045-0138-4150-8DC1-9E044DDC7798}"/>
              </a:ext>
            </a:extLst>
          </p:cNvPr>
          <p:cNvSpPr/>
          <p:nvPr/>
        </p:nvSpPr>
        <p:spPr>
          <a:xfrm rot="5066005">
            <a:off x="10262528" y="2775531"/>
            <a:ext cx="10977849" cy="12207597"/>
          </a:xfrm>
          <a:custGeom>
            <a:avLst/>
            <a:gdLst>
              <a:gd name="connsiteX0" fmla="*/ 0 w 5753420"/>
              <a:gd name="connsiteY0" fmla="*/ 3223258 h 6446516"/>
              <a:gd name="connsiteX1" fmla="*/ 2876710 w 5753420"/>
              <a:gd name="connsiteY1" fmla="*/ 0 h 6446516"/>
              <a:gd name="connsiteX2" fmla="*/ 5753420 w 5753420"/>
              <a:gd name="connsiteY2" fmla="*/ 3223258 h 6446516"/>
              <a:gd name="connsiteX3" fmla="*/ 2876710 w 5753420"/>
              <a:gd name="connsiteY3" fmla="*/ 6446516 h 6446516"/>
              <a:gd name="connsiteX4" fmla="*/ 0 w 5753420"/>
              <a:gd name="connsiteY4" fmla="*/ 3223258 h 6446516"/>
              <a:gd name="connsiteX0" fmla="*/ 0 w 4450400"/>
              <a:gd name="connsiteY0" fmla="*/ 3475583 h 6448417"/>
              <a:gd name="connsiteX1" fmla="*/ 1573690 w 4450400"/>
              <a:gd name="connsiteY1" fmla="*/ 865 h 6448417"/>
              <a:gd name="connsiteX2" fmla="*/ 4450400 w 4450400"/>
              <a:gd name="connsiteY2" fmla="*/ 3224123 h 6448417"/>
              <a:gd name="connsiteX3" fmla="*/ 1573690 w 4450400"/>
              <a:gd name="connsiteY3" fmla="*/ 6447381 h 6448417"/>
              <a:gd name="connsiteX4" fmla="*/ 0 w 4450400"/>
              <a:gd name="connsiteY4" fmla="*/ 3475583 h 6448417"/>
              <a:gd name="connsiteX0" fmla="*/ 0 w 6073460"/>
              <a:gd name="connsiteY0" fmla="*/ 2882382 h 6450120"/>
              <a:gd name="connsiteX1" fmla="*/ 3196750 w 6073460"/>
              <a:gd name="connsiteY1" fmla="*/ 2024 h 6450120"/>
              <a:gd name="connsiteX2" fmla="*/ 6073460 w 6073460"/>
              <a:gd name="connsiteY2" fmla="*/ 3225282 h 6450120"/>
              <a:gd name="connsiteX3" fmla="*/ 3196750 w 6073460"/>
              <a:gd name="connsiteY3" fmla="*/ 6448540 h 6450120"/>
              <a:gd name="connsiteX4" fmla="*/ 0 w 6073460"/>
              <a:gd name="connsiteY4" fmla="*/ 2882382 h 6450120"/>
              <a:gd name="connsiteX0" fmla="*/ 18668 w 6092128"/>
              <a:gd name="connsiteY0" fmla="*/ 2881794 h 7660420"/>
              <a:gd name="connsiteX1" fmla="*/ 3215418 w 6092128"/>
              <a:gd name="connsiteY1" fmla="*/ 1436 h 7660420"/>
              <a:gd name="connsiteX2" fmla="*/ 6092128 w 6092128"/>
              <a:gd name="connsiteY2" fmla="*/ 3224694 h 7660420"/>
              <a:gd name="connsiteX3" fmla="*/ 2095278 w 6092128"/>
              <a:gd name="connsiteY3" fmla="*/ 7659532 h 7660420"/>
              <a:gd name="connsiteX4" fmla="*/ 18668 w 6092128"/>
              <a:gd name="connsiteY4" fmla="*/ 2881794 h 7660420"/>
              <a:gd name="connsiteX0" fmla="*/ 5760 w 6079220"/>
              <a:gd name="connsiteY0" fmla="*/ 2881590 h 5947156"/>
              <a:gd name="connsiteX1" fmla="*/ 3202510 w 6079220"/>
              <a:gd name="connsiteY1" fmla="*/ 1232 h 5947156"/>
              <a:gd name="connsiteX2" fmla="*/ 6079220 w 6079220"/>
              <a:gd name="connsiteY2" fmla="*/ 3224490 h 5947156"/>
              <a:gd name="connsiteX3" fmla="*/ 2516710 w 6079220"/>
              <a:gd name="connsiteY3" fmla="*/ 5944828 h 5947156"/>
              <a:gd name="connsiteX4" fmla="*/ 5760 w 6079220"/>
              <a:gd name="connsiteY4" fmla="*/ 2881590 h 5947156"/>
              <a:gd name="connsiteX0" fmla="*/ 421759 w 6495219"/>
              <a:gd name="connsiteY0" fmla="*/ 2889736 h 5955302"/>
              <a:gd name="connsiteX1" fmla="*/ 3618509 w 6495219"/>
              <a:gd name="connsiteY1" fmla="*/ 9378 h 5955302"/>
              <a:gd name="connsiteX2" fmla="*/ 6495219 w 6495219"/>
              <a:gd name="connsiteY2" fmla="*/ 3232636 h 5955302"/>
              <a:gd name="connsiteX3" fmla="*/ 2932709 w 6495219"/>
              <a:gd name="connsiteY3" fmla="*/ 5952974 h 5955302"/>
              <a:gd name="connsiteX4" fmla="*/ 421759 w 6495219"/>
              <a:gd name="connsiteY4" fmla="*/ 2889736 h 5955302"/>
              <a:gd name="connsiteX0" fmla="*/ 421759 w 6495219"/>
              <a:gd name="connsiteY0" fmla="*/ 2889736 h 7919455"/>
              <a:gd name="connsiteX1" fmla="*/ 3618509 w 6495219"/>
              <a:gd name="connsiteY1" fmla="*/ 9378 h 7919455"/>
              <a:gd name="connsiteX2" fmla="*/ 6495219 w 6495219"/>
              <a:gd name="connsiteY2" fmla="*/ 3232636 h 7919455"/>
              <a:gd name="connsiteX3" fmla="*/ 2932709 w 6495219"/>
              <a:gd name="connsiteY3" fmla="*/ 5952974 h 7919455"/>
              <a:gd name="connsiteX4" fmla="*/ 421759 w 6495219"/>
              <a:gd name="connsiteY4" fmla="*/ 2889736 h 7919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95219" h="7919455">
                <a:moveTo>
                  <a:pt x="421759" y="2889736"/>
                </a:moveTo>
                <a:cubicBezTo>
                  <a:pt x="-1269881" y="70337"/>
                  <a:pt x="2606266" y="-47772"/>
                  <a:pt x="3618509" y="9378"/>
                </a:cubicBezTo>
                <a:cubicBezTo>
                  <a:pt x="4630752" y="66528"/>
                  <a:pt x="6495219" y="1452480"/>
                  <a:pt x="6495219" y="3232636"/>
                </a:cubicBezTo>
                <a:cubicBezTo>
                  <a:pt x="6495219" y="5012792"/>
                  <a:pt x="2207592" y="10970744"/>
                  <a:pt x="2932709" y="5952974"/>
                </a:cubicBezTo>
                <a:cubicBezTo>
                  <a:pt x="3657826" y="935204"/>
                  <a:pt x="2113399" y="5709135"/>
                  <a:pt x="421759" y="2889736"/>
                </a:cubicBezTo>
                <a:close/>
              </a:path>
            </a:pathLst>
          </a:custGeom>
          <a:noFill/>
          <a:ln w="76200">
            <a:solidFill>
              <a:srgbClr val="FAB9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latin typeface="Glory" pitchFamily="2" charset="0"/>
            </a:endParaRPr>
          </a:p>
        </p:txBody>
      </p:sp>
      <p:sp>
        <p:nvSpPr>
          <p:cNvPr id="11" name="Oval 1">
            <a:extLst>
              <a:ext uri="{FF2B5EF4-FFF2-40B4-BE49-F238E27FC236}">
                <a16:creationId xmlns:a16="http://schemas.microsoft.com/office/drawing/2014/main" id="{D116B8B3-0455-4495-A906-3B5DA416E458}"/>
              </a:ext>
            </a:extLst>
          </p:cNvPr>
          <p:cNvSpPr/>
          <p:nvPr/>
        </p:nvSpPr>
        <p:spPr>
          <a:xfrm rot="5066005">
            <a:off x="10900582" y="3269466"/>
            <a:ext cx="10977849" cy="12207597"/>
          </a:xfrm>
          <a:custGeom>
            <a:avLst/>
            <a:gdLst>
              <a:gd name="connsiteX0" fmla="*/ 0 w 5753420"/>
              <a:gd name="connsiteY0" fmla="*/ 3223258 h 6446516"/>
              <a:gd name="connsiteX1" fmla="*/ 2876710 w 5753420"/>
              <a:gd name="connsiteY1" fmla="*/ 0 h 6446516"/>
              <a:gd name="connsiteX2" fmla="*/ 5753420 w 5753420"/>
              <a:gd name="connsiteY2" fmla="*/ 3223258 h 6446516"/>
              <a:gd name="connsiteX3" fmla="*/ 2876710 w 5753420"/>
              <a:gd name="connsiteY3" fmla="*/ 6446516 h 6446516"/>
              <a:gd name="connsiteX4" fmla="*/ 0 w 5753420"/>
              <a:gd name="connsiteY4" fmla="*/ 3223258 h 6446516"/>
              <a:gd name="connsiteX0" fmla="*/ 0 w 4450400"/>
              <a:gd name="connsiteY0" fmla="*/ 3475583 h 6448417"/>
              <a:gd name="connsiteX1" fmla="*/ 1573690 w 4450400"/>
              <a:gd name="connsiteY1" fmla="*/ 865 h 6448417"/>
              <a:gd name="connsiteX2" fmla="*/ 4450400 w 4450400"/>
              <a:gd name="connsiteY2" fmla="*/ 3224123 h 6448417"/>
              <a:gd name="connsiteX3" fmla="*/ 1573690 w 4450400"/>
              <a:gd name="connsiteY3" fmla="*/ 6447381 h 6448417"/>
              <a:gd name="connsiteX4" fmla="*/ 0 w 4450400"/>
              <a:gd name="connsiteY4" fmla="*/ 3475583 h 6448417"/>
              <a:gd name="connsiteX0" fmla="*/ 0 w 6073460"/>
              <a:gd name="connsiteY0" fmla="*/ 2882382 h 6450120"/>
              <a:gd name="connsiteX1" fmla="*/ 3196750 w 6073460"/>
              <a:gd name="connsiteY1" fmla="*/ 2024 h 6450120"/>
              <a:gd name="connsiteX2" fmla="*/ 6073460 w 6073460"/>
              <a:gd name="connsiteY2" fmla="*/ 3225282 h 6450120"/>
              <a:gd name="connsiteX3" fmla="*/ 3196750 w 6073460"/>
              <a:gd name="connsiteY3" fmla="*/ 6448540 h 6450120"/>
              <a:gd name="connsiteX4" fmla="*/ 0 w 6073460"/>
              <a:gd name="connsiteY4" fmla="*/ 2882382 h 6450120"/>
              <a:gd name="connsiteX0" fmla="*/ 18668 w 6092128"/>
              <a:gd name="connsiteY0" fmla="*/ 2881794 h 7660420"/>
              <a:gd name="connsiteX1" fmla="*/ 3215418 w 6092128"/>
              <a:gd name="connsiteY1" fmla="*/ 1436 h 7660420"/>
              <a:gd name="connsiteX2" fmla="*/ 6092128 w 6092128"/>
              <a:gd name="connsiteY2" fmla="*/ 3224694 h 7660420"/>
              <a:gd name="connsiteX3" fmla="*/ 2095278 w 6092128"/>
              <a:gd name="connsiteY3" fmla="*/ 7659532 h 7660420"/>
              <a:gd name="connsiteX4" fmla="*/ 18668 w 6092128"/>
              <a:gd name="connsiteY4" fmla="*/ 2881794 h 7660420"/>
              <a:gd name="connsiteX0" fmla="*/ 5760 w 6079220"/>
              <a:gd name="connsiteY0" fmla="*/ 2881590 h 5947156"/>
              <a:gd name="connsiteX1" fmla="*/ 3202510 w 6079220"/>
              <a:gd name="connsiteY1" fmla="*/ 1232 h 5947156"/>
              <a:gd name="connsiteX2" fmla="*/ 6079220 w 6079220"/>
              <a:gd name="connsiteY2" fmla="*/ 3224490 h 5947156"/>
              <a:gd name="connsiteX3" fmla="*/ 2516710 w 6079220"/>
              <a:gd name="connsiteY3" fmla="*/ 5944828 h 5947156"/>
              <a:gd name="connsiteX4" fmla="*/ 5760 w 6079220"/>
              <a:gd name="connsiteY4" fmla="*/ 2881590 h 5947156"/>
              <a:gd name="connsiteX0" fmla="*/ 421759 w 6495219"/>
              <a:gd name="connsiteY0" fmla="*/ 2889736 h 5955302"/>
              <a:gd name="connsiteX1" fmla="*/ 3618509 w 6495219"/>
              <a:gd name="connsiteY1" fmla="*/ 9378 h 5955302"/>
              <a:gd name="connsiteX2" fmla="*/ 6495219 w 6495219"/>
              <a:gd name="connsiteY2" fmla="*/ 3232636 h 5955302"/>
              <a:gd name="connsiteX3" fmla="*/ 2932709 w 6495219"/>
              <a:gd name="connsiteY3" fmla="*/ 5952974 h 5955302"/>
              <a:gd name="connsiteX4" fmla="*/ 421759 w 6495219"/>
              <a:gd name="connsiteY4" fmla="*/ 2889736 h 5955302"/>
              <a:gd name="connsiteX0" fmla="*/ 421759 w 6495219"/>
              <a:gd name="connsiteY0" fmla="*/ 2889736 h 7919455"/>
              <a:gd name="connsiteX1" fmla="*/ 3618509 w 6495219"/>
              <a:gd name="connsiteY1" fmla="*/ 9378 h 7919455"/>
              <a:gd name="connsiteX2" fmla="*/ 6495219 w 6495219"/>
              <a:gd name="connsiteY2" fmla="*/ 3232636 h 7919455"/>
              <a:gd name="connsiteX3" fmla="*/ 2932709 w 6495219"/>
              <a:gd name="connsiteY3" fmla="*/ 5952974 h 7919455"/>
              <a:gd name="connsiteX4" fmla="*/ 421759 w 6495219"/>
              <a:gd name="connsiteY4" fmla="*/ 2889736 h 7919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95219" h="7919455">
                <a:moveTo>
                  <a:pt x="421759" y="2889736"/>
                </a:moveTo>
                <a:cubicBezTo>
                  <a:pt x="-1269881" y="70337"/>
                  <a:pt x="2606266" y="-47772"/>
                  <a:pt x="3618509" y="9378"/>
                </a:cubicBezTo>
                <a:cubicBezTo>
                  <a:pt x="4630752" y="66528"/>
                  <a:pt x="6495219" y="1452480"/>
                  <a:pt x="6495219" y="3232636"/>
                </a:cubicBezTo>
                <a:cubicBezTo>
                  <a:pt x="6495219" y="5012792"/>
                  <a:pt x="2207592" y="10970744"/>
                  <a:pt x="2932709" y="5952974"/>
                </a:cubicBezTo>
                <a:cubicBezTo>
                  <a:pt x="3657826" y="935204"/>
                  <a:pt x="2113399" y="5709135"/>
                  <a:pt x="421759" y="2889736"/>
                </a:cubicBezTo>
                <a:close/>
              </a:path>
            </a:pathLst>
          </a:custGeom>
          <a:noFill/>
          <a:ln w="76200">
            <a:solidFill>
              <a:srgbClr val="FAB9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latin typeface="Glory" pitchFamily="2" charset="0"/>
            </a:endParaRPr>
          </a:p>
        </p:txBody>
      </p:sp>
      <p:sp>
        <p:nvSpPr>
          <p:cNvPr id="12" name="Oval 1">
            <a:extLst>
              <a:ext uri="{FF2B5EF4-FFF2-40B4-BE49-F238E27FC236}">
                <a16:creationId xmlns:a16="http://schemas.microsoft.com/office/drawing/2014/main" id="{F8A22483-FC9D-49A3-A1CD-D8ADF9BEA998}"/>
              </a:ext>
            </a:extLst>
          </p:cNvPr>
          <p:cNvSpPr/>
          <p:nvPr/>
        </p:nvSpPr>
        <p:spPr>
          <a:xfrm rot="5066005">
            <a:off x="11571146" y="3533796"/>
            <a:ext cx="10977849" cy="12207597"/>
          </a:xfrm>
          <a:custGeom>
            <a:avLst/>
            <a:gdLst>
              <a:gd name="connsiteX0" fmla="*/ 0 w 5753420"/>
              <a:gd name="connsiteY0" fmla="*/ 3223258 h 6446516"/>
              <a:gd name="connsiteX1" fmla="*/ 2876710 w 5753420"/>
              <a:gd name="connsiteY1" fmla="*/ 0 h 6446516"/>
              <a:gd name="connsiteX2" fmla="*/ 5753420 w 5753420"/>
              <a:gd name="connsiteY2" fmla="*/ 3223258 h 6446516"/>
              <a:gd name="connsiteX3" fmla="*/ 2876710 w 5753420"/>
              <a:gd name="connsiteY3" fmla="*/ 6446516 h 6446516"/>
              <a:gd name="connsiteX4" fmla="*/ 0 w 5753420"/>
              <a:gd name="connsiteY4" fmla="*/ 3223258 h 6446516"/>
              <a:gd name="connsiteX0" fmla="*/ 0 w 4450400"/>
              <a:gd name="connsiteY0" fmla="*/ 3475583 h 6448417"/>
              <a:gd name="connsiteX1" fmla="*/ 1573690 w 4450400"/>
              <a:gd name="connsiteY1" fmla="*/ 865 h 6448417"/>
              <a:gd name="connsiteX2" fmla="*/ 4450400 w 4450400"/>
              <a:gd name="connsiteY2" fmla="*/ 3224123 h 6448417"/>
              <a:gd name="connsiteX3" fmla="*/ 1573690 w 4450400"/>
              <a:gd name="connsiteY3" fmla="*/ 6447381 h 6448417"/>
              <a:gd name="connsiteX4" fmla="*/ 0 w 4450400"/>
              <a:gd name="connsiteY4" fmla="*/ 3475583 h 6448417"/>
              <a:gd name="connsiteX0" fmla="*/ 0 w 6073460"/>
              <a:gd name="connsiteY0" fmla="*/ 2882382 h 6450120"/>
              <a:gd name="connsiteX1" fmla="*/ 3196750 w 6073460"/>
              <a:gd name="connsiteY1" fmla="*/ 2024 h 6450120"/>
              <a:gd name="connsiteX2" fmla="*/ 6073460 w 6073460"/>
              <a:gd name="connsiteY2" fmla="*/ 3225282 h 6450120"/>
              <a:gd name="connsiteX3" fmla="*/ 3196750 w 6073460"/>
              <a:gd name="connsiteY3" fmla="*/ 6448540 h 6450120"/>
              <a:gd name="connsiteX4" fmla="*/ 0 w 6073460"/>
              <a:gd name="connsiteY4" fmla="*/ 2882382 h 6450120"/>
              <a:gd name="connsiteX0" fmla="*/ 18668 w 6092128"/>
              <a:gd name="connsiteY0" fmla="*/ 2881794 h 7660420"/>
              <a:gd name="connsiteX1" fmla="*/ 3215418 w 6092128"/>
              <a:gd name="connsiteY1" fmla="*/ 1436 h 7660420"/>
              <a:gd name="connsiteX2" fmla="*/ 6092128 w 6092128"/>
              <a:gd name="connsiteY2" fmla="*/ 3224694 h 7660420"/>
              <a:gd name="connsiteX3" fmla="*/ 2095278 w 6092128"/>
              <a:gd name="connsiteY3" fmla="*/ 7659532 h 7660420"/>
              <a:gd name="connsiteX4" fmla="*/ 18668 w 6092128"/>
              <a:gd name="connsiteY4" fmla="*/ 2881794 h 7660420"/>
              <a:gd name="connsiteX0" fmla="*/ 5760 w 6079220"/>
              <a:gd name="connsiteY0" fmla="*/ 2881590 h 5947156"/>
              <a:gd name="connsiteX1" fmla="*/ 3202510 w 6079220"/>
              <a:gd name="connsiteY1" fmla="*/ 1232 h 5947156"/>
              <a:gd name="connsiteX2" fmla="*/ 6079220 w 6079220"/>
              <a:gd name="connsiteY2" fmla="*/ 3224490 h 5947156"/>
              <a:gd name="connsiteX3" fmla="*/ 2516710 w 6079220"/>
              <a:gd name="connsiteY3" fmla="*/ 5944828 h 5947156"/>
              <a:gd name="connsiteX4" fmla="*/ 5760 w 6079220"/>
              <a:gd name="connsiteY4" fmla="*/ 2881590 h 5947156"/>
              <a:gd name="connsiteX0" fmla="*/ 421759 w 6495219"/>
              <a:gd name="connsiteY0" fmla="*/ 2889736 h 5955302"/>
              <a:gd name="connsiteX1" fmla="*/ 3618509 w 6495219"/>
              <a:gd name="connsiteY1" fmla="*/ 9378 h 5955302"/>
              <a:gd name="connsiteX2" fmla="*/ 6495219 w 6495219"/>
              <a:gd name="connsiteY2" fmla="*/ 3232636 h 5955302"/>
              <a:gd name="connsiteX3" fmla="*/ 2932709 w 6495219"/>
              <a:gd name="connsiteY3" fmla="*/ 5952974 h 5955302"/>
              <a:gd name="connsiteX4" fmla="*/ 421759 w 6495219"/>
              <a:gd name="connsiteY4" fmla="*/ 2889736 h 5955302"/>
              <a:gd name="connsiteX0" fmla="*/ 421759 w 6495219"/>
              <a:gd name="connsiteY0" fmla="*/ 2889736 h 7919455"/>
              <a:gd name="connsiteX1" fmla="*/ 3618509 w 6495219"/>
              <a:gd name="connsiteY1" fmla="*/ 9378 h 7919455"/>
              <a:gd name="connsiteX2" fmla="*/ 6495219 w 6495219"/>
              <a:gd name="connsiteY2" fmla="*/ 3232636 h 7919455"/>
              <a:gd name="connsiteX3" fmla="*/ 2932709 w 6495219"/>
              <a:gd name="connsiteY3" fmla="*/ 5952974 h 7919455"/>
              <a:gd name="connsiteX4" fmla="*/ 421759 w 6495219"/>
              <a:gd name="connsiteY4" fmla="*/ 2889736 h 7919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95219" h="7919455">
                <a:moveTo>
                  <a:pt x="421759" y="2889736"/>
                </a:moveTo>
                <a:cubicBezTo>
                  <a:pt x="-1269881" y="70337"/>
                  <a:pt x="2606266" y="-47772"/>
                  <a:pt x="3618509" y="9378"/>
                </a:cubicBezTo>
                <a:cubicBezTo>
                  <a:pt x="4630752" y="66528"/>
                  <a:pt x="6495219" y="1452480"/>
                  <a:pt x="6495219" y="3232636"/>
                </a:cubicBezTo>
                <a:cubicBezTo>
                  <a:pt x="6495219" y="5012792"/>
                  <a:pt x="2207592" y="10970744"/>
                  <a:pt x="2932709" y="5952974"/>
                </a:cubicBezTo>
                <a:cubicBezTo>
                  <a:pt x="3657826" y="935204"/>
                  <a:pt x="2113399" y="5709135"/>
                  <a:pt x="421759" y="2889736"/>
                </a:cubicBezTo>
                <a:close/>
              </a:path>
            </a:pathLst>
          </a:custGeom>
          <a:noFill/>
          <a:ln w="76200">
            <a:solidFill>
              <a:srgbClr val="FAB9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latin typeface="Glory" pitchFamily="2" charset="0"/>
            </a:endParaRPr>
          </a:p>
        </p:txBody>
      </p:sp>
      <p:sp>
        <p:nvSpPr>
          <p:cNvPr id="13" name="Oval 1">
            <a:extLst>
              <a:ext uri="{FF2B5EF4-FFF2-40B4-BE49-F238E27FC236}">
                <a16:creationId xmlns:a16="http://schemas.microsoft.com/office/drawing/2014/main" id="{D759CF57-088E-4BD7-B4EB-25B11E9F008D}"/>
              </a:ext>
            </a:extLst>
          </p:cNvPr>
          <p:cNvSpPr/>
          <p:nvPr/>
        </p:nvSpPr>
        <p:spPr>
          <a:xfrm rot="3795638">
            <a:off x="34935070" y="-13325324"/>
            <a:ext cx="4991313" cy="5713487"/>
          </a:xfrm>
          <a:custGeom>
            <a:avLst/>
            <a:gdLst>
              <a:gd name="connsiteX0" fmla="*/ 0 w 5753420"/>
              <a:gd name="connsiteY0" fmla="*/ 3223258 h 6446516"/>
              <a:gd name="connsiteX1" fmla="*/ 2876710 w 5753420"/>
              <a:gd name="connsiteY1" fmla="*/ 0 h 6446516"/>
              <a:gd name="connsiteX2" fmla="*/ 5753420 w 5753420"/>
              <a:gd name="connsiteY2" fmla="*/ 3223258 h 6446516"/>
              <a:gd name="connsiteX3" fmla="*/ 2876710 w 5753420"/>
              <a:gd name="connsiteY3" fmla="*/ 6446516 h 6446516"/>
              <a:gd name="connsiteX4" fmla="*/ 0 w 5753420"/>
              <a:gd name="connsiteY4" fmla="*/ 3223258 h 6446516"/>
              <a:gd name="connsiteX0" fmla="*/ 0 w 4450400"/>
              <a:gd name="connsiteY0" fmla="*/ 3475583 h 6448417"/>
              <a:gd name="connsiteX1" fmla="*/ 1573690 w 4450400"/>
              <a:gd name="connsiteY1" fmla="*/ 865 h 6448417"/>
              <a:gd name="connsiteX2" fmla="*/ 4450400 w 4450400"/>
              <a:gd name="connsiteY2" fmla="*/ 3224123 h 6448417"/>
              <a:gd name="connsiteX3" fmla="*/ 1573690 w 4450400"/>
              <a:gd name="connsiteY3" fmla="*/ 6447381 h 6448417"/>
              <a:gd name="connsiteX4" fmla="*/ 0 w 4450400"/>
              <a:gd name="connsiteY4" fmla="*/ 3475583 h 6448417"/>
              <a:gd name="connsiteX0" fmla="*/ 0 w 6073460"/>
              <a:gd name="connsiteY0" fmla="*/ 2882382 h 6450120"/>
              <a:gd name="connsiteX1" fmla="*/ 3196750 w 6073460"/>
              <a:gd name="connsiteY1" fmla="*/ 2024 h 6450120"/>
              <a:gd name="connsiteX2" fmla="*/ 6073460 w 6073460"/>
              <a:gd name="connsiteY2" fmla="*/ 3225282 h 6450120"/>
              <a:gd name="connsiteX3" fmla="*/ 3196750 w 6073460"/>
              <a:gd name="connsiteY3" fmla="*/ 6448540 h 6450120"/>
              <a:gd name="connsiteX4" fmla="*/ 0 w 6073460"/>
              <a:gd name="connsiteY4" fmla="*/ 2882382 h 6450120"/>
              <a:gd name="connsiteX0" fmla="*/ 18668 w 6092128"/>
              <a:gd name="connsiteY0" fmla="*/ 2881794 h 7660420"/>
              <a:gd name="connsiteX1" fmla="*/ 3215418 w 6092128"/>
              <a:gd name="connsiteY1" fmla="*/ 1436 h 7660420"/>
              <a:gd name="connsiteX2" fmla="*/ 6092128 w 6092128"/>
              <a:gd name="connsiteY2" fmla="*/ 3224694 h 7660420"/>
              <a:gd name="connsiteX3" fmla="*/ 2095278 w 6092128"/>
              <a:gd name="connsiteY3" fmla="*/ 7659532 h 7660420"/>
              <a:gd name="connsiteX4" fmla="*/ 18668 w 6092128"/>
              <a:gd name="connsiteY4" fmla="*/ 2881794 h 7660420"/>
              <a:gd name="connsiteX0" fmla="*/ 5760 w 6079220"/>
              <a:gd name="connsiteY0" fmla="*/ 2881590 h 5947156"/>
              <a:gd name="connsiteX1" fmla="*/ 3202510 w 6079220"/>
              <a:gd name="connsiteY1" fmla="*/ 1232 h 5947156"/>
              <a:gd name="connsiteX2" fmla="*/ 6079220 w 6079220"/>
              <a:gd name="connsiteY2" fmla="*/ 3224490 h 5947156"/>
              <a:gd name="connsiteX3" fmla="*/ 2516710 w 6079220"/>
              <a:gd name="connsiteY3" fmla="*/ 5944828 h 5947156"/>
              <a:gd name="connsiteX4" fmla="*/ 5760 w 6079220"/>
              <a:gd name="connsiteY4" fmla="*/ 2881590 h 5947156"/>
              <a:gd name="connsiteX0" fmla="*/ 421759 w 6495219"/>
              <a:gd name="connsiteY0" fmla="*/ 2889736 h 5955302"/>
              <a:gd name="connsiteX1" fmla="*/ 3618509 w 6495219"/>
              <a:gd name="connsiteY1" fmla="*/ 9378 h 5955302"/>
              <a:gd name="connsiteX2" fmla="*/ 6495219 w 6495219"/>
              <a:gd name="connsiteY2" fmla="*/ 3232636 h 5955302"/>
              <a:gd name="connsiteX3" fmla="*/ 2932709 w 6495219"/>
              <a:gd name="connsiteY3" fmla="*/ 5952974 h 5955302"/>
              <a:gd name="connsiteX4" fmla="*/ 421759 w 6495219"/>
              <a:gd name="connsiteY4" fmla="*/ 2889736 h 5955302"/>
              <a:gd name="connsiteX0" fmla="*/ 421759 w 6495219"/>
              <a:gd name="connsiteY0" fmla="*/ 2889736 h 7919455"/>
              <a:gd name="connsiteX1" fmla="*/ 3618509 w 6495219"/>
              <a:gd name="connsiteY1" fmla="*/ 9378 h 7919455"/>
              <a:gd name="connsiteX2" fmla="*/ 6495219 w 6495219"/>
              <a:gd name="connsiteY2" fmla="*/ 3232636 h 7919455"/>
              <a:gd name="connsiteX3" fmla="*/ 2932709 w 6495219"/>
              <a:gd name="connsiteY3" fmla="*/ 5952974 h 7919455"/>
              <a:gd name="connsiteX4" fmla="*/ 421759 w 6495219"/>
              <a:gd name="connsiteY4" fmla="*/ 2889736 h 7919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95219" h="7919455">
                <a:moveTo>
                  <a:pt x="421759" y="2889736"/>
                </a:moveTo>
                <a:cubicBezTo>
                  <a:pt x="-1269881" y="70337"/>
                  <a:pt x="2606266" y="-47772"/>
                  <a:pt x="3618509" y="9378"/>
                </a:cubicBezTo>
                <a:cubicBezTo>
                  <a:pt x="4630752" y="66528"/>
                  <a:pt x="6495219" y="1452480"/>
                  <a:pt x="6495219" y="3232636"/>
                </a:cubicBezTo>
                <a:cubicBezTo>
                  <a:pt x="6495219" y="5012792"/>
                  <a:pt x="2207592" y="10970744"/>
                  <a:pt x="2932709" y="5952974"/>
                </a:cubicBezTo>
                <a:cubicBezTo>
                  <a:pt x="3657826" y="935204"/>
                  <a:pt x="2113399" y="5709135"/>
                  <a:pt x="421759" y="2889736"/>
                </a:cubicBezTo>
                <a:close/>
              </a:path>
            </a:pathLst>
          </a:custGeom>
          <a:solidFill>
            <a:srgbClr val="009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latin typeface="Glory" pitchFamily="2" charset="0"/>
            </a:endParaRPr>
          </a:p>
        </p:txBody>
      </p:sp>
      <p:pic>
        <p:nvPicPr>
          <p:cNvPr id="15" name="Picture 8">
            <a:extLst>
              <a:ext uri="{FF2B5EF4-FFF2-40B4-BE49-F238E27FC236}">
                <a16:creationId xmlns:a16="http://schemas.microsoft.com/office/drawing/2014/main" id="{51BD9CC3-195B-4A5C-BF5B-5D5C41B56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5956" y="2642935"/>
            <a:ext cx="17335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6272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5489554" y="7886343"/>
            <a:ext cx="761996" cy="2399988"/>
          </a:xfrm>
          <a:prstGeom prst="rect">
            <a:avLst/>
          </a:prstGeom>
          <a:noFill/>
          <a:ln/>
        </p:spPr>
      </p:sp>
      <p:sp>
        <p:nvSpPr>
          <p:cNvPr id="6" name="Text 1"/>
          <p:cNvSpPr/>
          <p:nvPr/>
        </p:nvSpPr>
        <p:spPr>
          <a:xfrm>
            <a:off x="4198712" y="527921"/>
            <a:ext cx="11069976" cy="133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9599" dirty="0">
                <a:latin typeface="DM Serif Display Regular" pitchFamily="34" charset="0"/>
                <a:ea typeface="DM Serif Display Regular" pitchFamily="34" charset="-122"/>
                <a:cs typeface="DM Serif Display Regular" pitchFamily="34" charset="-120"/>
              </a:rPr>
              <a:t>Table des matières</a:t>
            </a:r>
            <a:endParaRPr lang="en-US" sz="9599" dirty="0"/>
          </a:p>
        </p:txBody>
      </p:sp>
      <p:sp>
        <p:nvSpPr>
          <p:cNvPr id="8" name="Shape 3"/>
          <p:cNvSpPr/>
          <p:nvPr/>
        </p:nvSpPr>
        <p:spPr>
          <a:xfrm>
            <a:off x="1771840" y="3448271"/>
            <a:ext cx="4448152" cy="1104756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1600200" y="3695700"/>
            <a:ext cx="4600551" cy="780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3600" dirty="0">
                <a:solidFill>
                  <a:srgbClr val="0E0E0E">
                    <a:alpha val="100000"/>
                  </a:srgbClr>
                </a:solidFill>
                <a:latin typeface="DM Serif Display Regular" pitchFamily="34" charset="0"/>
              </a:rPr>
              <a:t>Introduction</a:t>
            </a: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390" y="3391128"/>
            <a:ext cx="1219194" cy="1219041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372390" y="3391128"/>
            <a:ext cx="1219194" cy="1219041"/>
          </a:xfrm>
          <a:prstGeom prst="roundRect">
            <a:avLst>
              <a:gd name="adj" fmla="val 781313"/>
            </a:avLst>
          </a:prstGeom>
          <a:noFill/>
          <a:ln w="12700">
            <a:solidFill>
              <a:srgbClr val="E7653A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6710526" y="3610175"/>
            <a:ext cx="542922" cy="780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dirty="0">
                <a:solidFill>
                  <a:srgbClr val="E7653A">
                    <a:alpha val="100000"/>
                  </a:srgbClr>
                </a:solidFill>
                <a:latin typeface="DM Serif Display Regular" pitchFamily="34" charset="0"/>
                <a:ea typeface="DM Serif Display Regular" pitchFamily="34" charset="-122"/>
                <a:cs typeface="DM Serif Display Regular" pitchFamily="34" charset="-120"/>
              </a:rPr>
              <a:t>01</a:t>
            </a:r>
            <a:endParaRPr lang="en-US" sz="3600" dirty="0"/>
          </a:p>
        </p:txBody>
      </p:sp>
      <p:sp>
        <p:nvSpPr>
          <p:cNvPr id="14" name="Shape 8"/>
          <p:cNvSpPr/>
          <p:nvPr/>
        </p:nvSpPr>
        <p:spPr>
          <a:xfrm>
            <a:off x="10344884" y="3391128"/>
            <a:ext cx="5819745" cy="1219041"/>
          </a:xfrm>
          <a:prstGeom prst="rect">
            <a:avLst/>
          </a:prstGeom>
          <a:noFill/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884" y="3391128"/>
            <a:ext cx="1219194" cy="1219041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10344884" y="3391128"/>
            <a:ext cx="1219194" cy="1219041"/>
          </a:xfrm>
          <a:prstGeom prst="roundRect">
            <a:avLst>
              <a:gd name="adj" fmla="val 781313"/>
            </a:avLst>
          </a:prstGeom>
          <a:noFill/>
          <a:ln w="12700">
            <a:solidFill>
              <a:srgbClr val="E7653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10640157" y="3610175"/>
            <a:ext cx="628647" cy="780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dirty="0">
                <a:solidFill>
                  <a:srgbClr val="E7653A">
                    <a:alpha val="100000"/>
                  </a:srgbClr>
                </a:solidFill>
                <a:latin typeface="DM Serif Display Regular" pitchFamily="34" charset="0"/>
                <a:ea typeface="DM Serif Display Regular" pitchFamily="34" charset="-122"/>
                <a:cs typeface="DM Serif Display Regular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Shape 11"/>
          <p:cNvSpPr/>
          <p:nvPr/>
        </p:nvSpPr>
        <p:spPr>
          <a:xfrm>
            <a:off x="11716477" y="3448271"/>
            <a:ext cx="4448152" cy="1104756"/>
          </a:xfrm>
          <a:prstGeom prst="rect">
            <a:avLst/>
          </a:prstGeom>
          <a:noFill/>
          <a:ln/>
        </p:spPr>
      </p:sp>
      <p:sp>
        <p:nvSpPr>
          <p:cNvPr id="19" name="Text 12"/>
          <p:cNvSpPr/>
          <p:nvPr/>
        </p:nvSpPr>
        <p:spPr>
          <a:xfrm>
            <a:off x="11722907" y="3448152"/>
            <a:ext cx="4600551" cy="780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3600" dirty="0">
                <a:solidFill>
                  <a:srgbClr val="0E0E0E">
                    <a:alpha val="100000"/>
                  </a:srgbClr>
                </a:solidFill>
                <a:latin typeface="DM Serif Display Regular" pitchFamily="34" charset="0"/>
              </a:rPr>
              <a:t>Présentation du plan </a:t>
            </a:r>
            <a:r>
              <a:rPr lang="en-US" sz="3600" dirty="0" err="1">
                <a:solidFill>
                  <a:srgbClr val="0E0E0E">
                    <a:alpha val="100000"/>
                  </a:srgbClr>
                </a:solidFill>
                <a:latin typeface="DM Serif Display Regular" pitchFamily="34" charset="0"/>
              </a:rPr>
              <a:t>projet</a:t>
            </a:r>
            <a:endParaRPr lang="en-US" sz="36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390" y="5629212"/>
            <a:ext cx="1219194" cy="1219041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372390" y="5629212"/>
            <a:ext cx="1219194" cy="1219041"/>
          </a:xfrm>
          <a:prstGeom prst="roundRect">
            <a:avLst>
              <a:gd name="adj" fmla="val 781313"/>
            </a:avLst>
          </a:prstGeom>
          <a:noFill/>
          <a:ln w="12700">
            <a:solidFill>
              <a:srgbClr val="E7653A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667664" y="5848258"/>
            <a:ext cx="628647" cy="780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dirty="0">
                <a:solidFill>
                  <a:srgbClr val="E7653A">
                    <a:alpha val="100000"/>
                  </a:srgbClr>
                </a:solidFill>
                <a:latin typeface="DM Serif Display Regular" pitchFamily="34" charset="0"/>
                <a:ea typeface="DM Serif Display Regular" pitchFamily="34" charset="-122"/>
                <a:cs typeface="DM Serif Display Regular" pitchFamily="34" charset="-120"/>
              </a:rPr>
              <a:t>02</a:t>
            </a:r>
            <a:endParaRPr lang="en-US" sz="3600" dirty="0"/>
          </a:p>
        </p:txBody>
      </p:sp>
      <p:sp>
        <p:nvSpPr>
          <p:cNvPr id="28" name="Shape 20"/>
          <p:cNvSpPr/>
          <p:nvPr/>
        </p:nvSpPr>
        <p:spPr>
          <a:xfrm>
            <a:off x="10344884" y="5629212"/>
            <a:ext cx="5819745" cy="1219041"/>
          </a:xfrm>
          <a:prstGeom prst="rect">
            <a:avLst/>
          </a:prstGeom>
          <a:noFill/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884" y="5629212"/>
            <a:ext cx="1219194" cy="1219041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10344884" y="5629212"/>
            <a:ext cx="1219194" cy="1219041"/>
          </a:xfrm>
          <a:prstGeom prst="roundRect">
            <a:avLst>
              <a:gd name="adj" fmla="val 781313"/>
            </a:avLst>
          </a:prstGeom>
          <a:noFill/>
          <a:ln w="12700">
            <a:solidFill>
              <a:srgbClr val="E7653A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10640157" y="5848258"/>
            <a:ext cx="628647" cy="780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dirty="0">
                <a:solidFill>
                  <a:srgbClr val="E7653A">
                    <a:alpha val="100000"/>
                  </a:srgbClr>
                </a:solidFill>
                <a:latin typeface="DM Serif Display Regular" pitchFamily="34" charset="0"/>
                <a:ea typeface="DM Serif Display Regular" pitchFamily="34" charset="-122"/>
                <a:cs typeface="DM Serif Display Regular" pitchFamily="34" charset="-120"/>
              </a:rPr>
              <a:t>05</a:t>
            </a:r>
            <a:endParaRPr lang="en-US" sz="3600" dirty="0"/>
          </a:p>
        </p:txBody>
      </p:sp>
      <p:sp>
        <p:nvSpPr>
          <p:cNvPr id="32" name="Shape 23"/>
          <p:cNvSpPr/>
          <p:nvPr/>
        </p:nvSpPr>
        <p:spPr>
          <a:xfrm>
            <a:off x="11716477" y="5686354"/>
            <a:ext cx="4448152" cy="1104756"/>
          </a:xfrm>
          <a:prstGeom prst="rect">
            <a:avLst/>
          </a:prstGeom>
          <a:noFill/>
          <a:ln/>
        </p:spPr>
      </p:sp>
      <p:sp>
        <p:nvSpPr>
          <p:cNvPr id="33" name="Text 24"/>
          <p:cNvSpPr/>
          <p:nvPr/>
        </p:nvSpPr>
        <p:spPr>
          <a:xfrm>
            <a:off x="1739791" y="5710246"/>
            <a:ext cx="4460960" cy="70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3600" dirty="0" err="1">
                <a:solidFill>
                  <a:srgbClr val="0E0E0E">
                    <a:alpha val="100000"/>
                  </a:srgbClr>
                </a:solidFill>
                <a:latin typeface="DM Serif Display Regular" pitchFamily="34" charset="0"/>
                <a:ea typeface="DM Serif Display Regular" pitchFamily="34" charset="-122"/>
                <a:cs typeface="DM Serif Display Regular" pitchFamily="34" charset="-120"/>
              </a:rPr>
              <a:t>Contexte</a:t>
            </a:r>
            <a:r>
              <a:rPr lang="en-US" sz="3600" dirty="0">
                <a:solidFill>
                  <a:srgbClr val="0E0E0E">
                    <a:alpha val="100000"/>
                  </a:srgbClr>
                </a:solidFill>
                <a:latin typeface="DM Serif Display Regular" pitchFamily="34" charset="0"/>
                <a:ea typeface="DM Serif Display Regular" pitchFamily="34" charset="-122"/>
                <a:cs typeface="DM Serif Display Regular" pitchFamily="34" charset="-120"/>
              </a:rPr>
              <a:t>, </a:t>
            </a:r>
            <a:r>
              <a:rPr lang="en-US" sz="3600" dirty="0" err="1">
                <a:solidFill>
                  <a:srgbClr val="0E0E0E">
                    <a:alpha val="100000"/>
                  </a:srgbClr>
                </a:solidFill>
                <a:latin typeface="DM Serif Display Regular" pitchFamily="34" charset="0"/>
                <a:ea typeface="DM Serif Display Regular" pitchFamily="34" charset="-122"/>
                <a:cs typeface="DM Serif Display Regular" pitchFamily="34" charset="-120"/>
              </a:rPr>
              <a:t>objectifs</a:t>
            </a:r>
            <a:r>
              <a:rPr lang="en-US" sz="3600" dirty="0">
                <a:solidFill>
                  <a:srgbClr val="0E0E0E">
                    <a:alpha val="100000"/>
                  </a:srgbClr>
                </a:solidFill>
                <a:latin typeface="DM Serif Display Regular" pitchFamily="34" charset="0"/>
                <a:ea typeface="DM Serif Display Regular" pitchFamily="34" charset="-122"/>
                <a:cs typeface="DM Serif Display Regular" pitchFamily="34" charset="-120"/>
              </a:rPr>
              <a:t> et </a:t>
            </a:r>
            <a:r>
              <a:rPr lang="en-US" sz="3600" dirty="0" err="1">
                <a:solidFill>
                  <a:srgbClr val="0E0E0E">
                    <a:alpha val="100000"/>
                  </a:srgbClr>
                </a:solidFill>
                <a:latin typeface="DM Serif Display Regular" pitchFamily="34" charset="0"/>
                <a:ea typeface="DM Serif Display Regular" pitchFamily="34" charset="-122"/>
                <a:cs typeface="DM Serif Display Regular" pitchFamily="34" charset="-120"/>
              </a:rPr>
              <a:t>contraintes</a:t>
            </a:r>
            <a:r>
              <a:rPr lang="en-US" sz="3600" dirty="0">
                <a:solidFill>
                  <a:srgbClr val="0E0E0E">
                    <a:alpha val="100000"/>
                  </a:srgbClr>
                </a:solidFill>
                <a:latin typeface="DM Serif Display Regular" pitchFamily="34" charset="0"/>
                <a:ea typeface="DM Serif Display Regular" pitchFamily="34" charset="-122"/>
                <a:cs typeface="DM Serif Display Regular" pitchFamily="34" charset="-120"/>
              </a:rPr>
              <a:t> du </a:t>
            </a:r>
            <a:r>
              <a:rPr lang="en-US" sz="3600" dirty="0" err="1">
                <a:solidFill>
                  <a:srgbClr val="0E0E0E">
                    <a:alpha val="100000"/>
                  </a:srgbClr>
                </a:solidFill>
                <a:latin typeface="DM Serif Display Regular" pitchFamily="34" charset="0"/>
                <a:ea typeface="DM Serif Display Regular" pitchFamily="34" charset="-122"/>
                <a:cs typeface="DM Serif Display Regular" pitchFamily="34" charset="-120"/>
              </a:rPr>
              <a:t>projet</a:t>
            </a:r>
            <a:endParaRPr lang="en-US" sz="3600" dirty="0"/>
          </a:p>
        </p:txBody>
      </p:sp>
      <p:sp>
        <p:nvSpPr>
          <p:cNvPr id="35" name="Shape 26"/>
          <p:cNvSpPr/>
          <p:nvPr/>
        </p:nvSpPr>
        <p:spPr>
          <a:xfrm>
            <a:off x="1771839" y="7867295"/>
            <a:ext cx="5819745" cy="1219041"/>
          </a:xfrm>
          <a:prstGeom prst="rect">
            <a:avLst/>
          </a:prstGeom>
          <a:noFill/>
          <a:ln/>
        </p:spPr>
      </p:sp>
      <p:sp>
        <p:nvSpPr>
          <p:cNvPr id="36" name="Shape 27"/>
          <p:cNvSpPr/>
          <p:nvPr/>
        </p:nvSpPr>
        <p:spPr>
          <a:xfrm>
            <a:off x="1771840" y="7924438"/>
            <a:ext cx="4448152" cy="1104756"/>
          </a:xfrm>
          <a:prstGeom prst="rect">
            <a:avLst/>
          </a:prstGeom>
          <a:noFill/>
          <a:ln/>
        </p:spPr>
      </p:sp>
      <p:sp>
        <p:nvSpPr>
          <p:cNvPr id="37" name="Text 28"/>
          <p:cNvSpPr/>
          <p:nvPr/>
        </p:nvSpPr>
        <p:spPr>
          <a:xfrm>
            <a:off x="1619441" y="7962900"/>
            <a:ext cx="4600551" cy="780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3600" dirty="0" err="1">
                <a:solidFill>
                  <a:srgbClr val="0E0E0E">
                    <a:alpha val="100000"/>
                  </a:srgbClr>
                </a:solidFill>
                <a:latin typeface="DM Serif Display Regular" pitchFamily="34" charset="0"/>
              </a:rPr>
              <a:t>Bilan</a:t>
            </a:r>
            <a:r>
              <a:rPr lang="en-US" sz="3600" dirty="0">
                <a:solidFill>
                  <a:srgbClr val="0E0E0E">
                    <a:alpha val="100000"/>
                  </a:srgbClr>
                </a:solidFill>
                <a:latin typeface="DM Serif Display Regular" pitchFamily="34" charset="0"/>
              </a:rPr>
              <a:t> </a:t>
            </a:r>
            <a:r>
              <a:rPr lang="en-US" sz="3600" dirty="0" err="1">
                <a:solidFill>
                  <a:srgbClr val="0E0E0E">
                    <a:alpha val="100000"/>
                  </a:srgbClr>
                </a:solidFill>
                <a:latin typeface="DM Serif Display Regular" pitchFamily="34" charset="0"/>
              </a:rPr>
              <a:t>rapide</a:t>
            </a:r>
            <a:r>
              <a:rPr lang="en-US" sz="3600" dirty="0">
                <a:solidFill>
                  <a:srgbClr val="0E0E0E">
                    <a:alpha val="100000"/>
                  </a:srgbClr>
                </a:solidFill>
                <a:latin typeface="DM Serif Display Regular" pitchFamily="34" charset="0"/>
              </a:rPr>
              <a:t> sur le MVP </a:t>
            </a:r>
            <a:r>
              <a:rPr lang="en-US" sz="3600" dirty="0" err="1">
                <a:solidFill>
                  <a:srgbClr val="0E0E0E">
                    <a:alpha val="100000"/>
                  </a:srgbClr>
                </a:solidFill>
                <a:latin typeface="DM Serif Display Regular" pitchFamily="34" charset="0"/>
              </a:rPr>
              <a:t>réalisé</a:t>
            </a:r>
            <a:endParaRPr lang="en-US" sz="36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390" y="7867295"/>
            <a:ext cx="1219194" cy="1219041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6372390" y="7867295"/>
            <a:ext cx="1219194" cy="1219041"/>
          </a:xfrm>
          <a:prstGeom prst="roundRect">
            <a:avLst>
              <a:gd name="adj" fmla="val 781313"/>
            </a:avLst>
          </a:prstGeom>
          <a:noFill/>
          <a:ln w="12700">
            <a:solidFill>
              <a:srgbClr val="E7653A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6667664" y="8086342"/>
            <a:ext cx="628647" cy="780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dirty="0">
                <a:solidFill>
                  <a:srgbClr val="E7653A">
                    <a:alpha val="100000"/>
                  </a:srgbClr>
                </a:solidFill>
                <a:latin typeface="DM Serif Display Regular" pitchFamily="34" charset="0"/>
                <a:ea typeface="DM Serif Display Regular" pitchFamily="34" charset="-122"/>
                <a:cs typeface="DM Serif Display Regular" pitchFamily="34" charset="-120"/>
              </a:rPr>
              <a:t>03</a:t>
            </a:r>
            <a:endParaRPr lang="en-US" sz="3600" dirty="0"/>
          </a:p>
        </p:txBody>
      </p:sp>
      <p:sp>
        <p:nvSpPr>
          <p:cNvPr id="47" name="Text 36"/>
          <p:cNvSpPr/>
          <p:nvPr/>
        </p:nvSpPr>
        <p:spPr>
          <a:xfrm>
            <a:off x="11716477" y="5905500"/>
            <a:ext cx="5431133" cy="780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3600" dirty="0">
                <a:solidFill>
                  <a:srgbClr val="0E0E0E">
                    <a:alpha val="100000"/>
                  </a:srgbClr>
                </a:solidFill>
                <a:latin typeface="DM Serif Display Regular" pitchFamily="34" charset="0"/>
                <a:ea typeface="DM Serif Display Regular" pitchFamily="34" charset="-122"/>
                <a:cs typeface="DM Serif Display Regular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EC4E7D-49F8-4852-9EFC-F641C6DDDFCE}"/>
              </a:ext>
            </a:extLst>
          </p:cNvPr>
          <p:cNvSpPr/>
          <p:nvPr/>
        </p:nvSpPr>
        <p:spPr>
          <a:xfrm>
            <a:off x="7090249" y="2475885"/>
            <a:ext cx="4114264" cy="3428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46" name="Text 2">
            <a:extLst>
              <a:ext uri="{FF2B5EF4-FFF2-40B4-BE49-F238E27FC236}">
                <a16:creationId xmlns:a16="http://schemas.microsoft.com/office/drawing/2014/main" id="{32ACA1B3-0A85-43B1-8BB5-EA29BC6D1DC3}"/>
              </a:ext>
            </a:extLst>
          </p:cNvPr>
          <p:cNvSpPr/>
          <p:nvPr/>
        </p:nvSpPr>
        <p:spPr>
          <a:xfrm>
            <a:off x="16930345" y="9080622"/>
            <a:ext cx="409672" cy="50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3000" dirty="0">
                <a:latin typeface="DM Sans 14pt" pitchFamily="2" charset="0"/>
              </a:rPr>
              <a:t>2</a:t>
            </a:r>
          </a:p>
        </p:txBody>
      </p:sp>
      <p:sp>
        <p:nvSpPr>
          <p:cNvPr id="48" name="Text 0">
            <a:extLst>
              <a:ext uri="{FF2B5EF4-FFF2-40B4-BE49-F238E27FC236}">
                <a16:creationId xmlns:a16="http://schemas.microsoft.com/office/drawing/2014/main" id="{E1BC38EB-2329-4D17-923C-99EC2E38887D}"/>
              </a:ext>
            </a:extLst>
          </p:cNvPr>
          <p:cNvSpPr/>
          <p:nvPr/>
        </p:nvSpPr>
        <p:spPr>
          <a:xfrm>
            <a:off x="2118964" y="11011631"/>
            <a:ext cx="14050073" cy="912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5399" dirty="0">
                <a:solidFill>
                  <a:schemeClr val="tx2">
                    <a:lumMod val="50000"/>
                  </a:schemeClr>
                </a:solidFill>
                <a:latin typeface="DM Serif Display Regular"/>
                <a:ea typeface="DM Serif Display Regular"/>
                <a:cs typeface="DM Serif Display Regular" pitchFamily="34" charset="-120"/>
              </a:rPr>
              <a:t>Project Context &amp; </a:t>
            </a:r>
            <a:r>
              <a:rPr lang="en-US" sz="5399" dirty="0">
                <a:solidFill>
                  <a:schemeClr val="tx2">
                    <a:lumMod val="50000"/>
                  </a:schemeClr>
                </a:solidFill>
                <a:latin typeface="DM Serif Display Regular"/>
                <a:ea typeface="DM Serif Display Regular"/>
              </a:rPr>
              <a:t>Problem Statement</a:t>
            </a:r>
          </a:p>
        </p:txBody>
      </p:sp>
      <p:pic>
        <p:nvPicPr>
          <p:cNvPr id="52" name="Image 3" descr="preencoded.png">
            <a:extLst>
              <a:ext uri="{FF2B5EF4-FFF2-40B4-BE49-F238E27FC236}">
                <a16:creationId xmlns:a16="http://schemas.microsoft.com/office/drawing/2014/main" id="{BC2744D3-FD4D-46CA-B902-72ABC1CAF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200" y="4229100"/>
            <a:ext cx="9780219" cy="9385300"/>
          </a:xfrm>
          <a:prstGeom prst="rect">
            <a:avLst/>
          </a:prstGeom>
        </p:spPr>
      </p:pic>
      <p:pic>
        <p:nvPicPr>
          <p:cNvPr id="51" name="Image 2" descr="preencoded.png">
            <a:extLst>
              <a:ext uri="{FF2B5EF4-FFF2-40B4-BE49-F238E27FC236}">
                <a16:creationId xmlns:a16="http://schemas.microsoft.com/office/drawing/2014/main" id="{A49BFCC4-6F9A-4736-9C8D-AEA3FC496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14400" y="-437214"/>
            <a:ext cx="4114265" cy="33457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9030882-1BA0-4711-AE51-A4156A929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57800" y="-2324100"/>
            <a:ext cx="26283818" cy="14782800"/>
          </a:xfrm>
          <a:prstGeom prst="rect">
            <a:avLst/>
          </a:prstGeom>
        </p:spPr>
      </p:pic>
      <p:sp>
        <p:nvSpPr>
          <p:cNvPr id="71" name="Google Shape;71;g2c3cba21922_0_51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73" name="Google Shape;73;g2c3cba21922_0_51"/>
          <p:cNvSpPr/>
          <p:nvPr/>
        </p:nvSpPr>
        <p:spPr>
          <a:xfrm>
            <a:off x="322068" y="4991100"/>
            <a:ext cx="17643864" cy="2195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272727"/>
              </a:buClr>
              <a:buSzPts val="8000"/>
            </a:pPr>
            <a:r>
              <a:rPr lang="en-US" sz="12448" dirty="0">
                <a:solidFill>
                  <a:srgbClr val="272727"/>
                </a:solidFill>
                <a:latin typeface="DM Serif Display"/>
                <a:sym typeface="DM Serif Display"/>
              </a:rPr>
              <a:t>Introduction</a:t>
            </a:r>
            <a:endParaRPr sz="12448" dirty="0">
              <a:solidFill>
                <a:srgbClr val="272727"/>
              </a:solidFill>
              <a:latin typeface="DM Serif Display"/>
              <a:sym typeface="Calibri"/>
            </a:endParaRPr>
          </a:p>
        </p:txBody>
      </p:sp>
      <p:sp>
        <p:nvSpPr>
          <p:cNvPr id="5" name="Google Shape;62;g2bb1949ee2e_0_31">
            <a:extLst>
              <a:ext uri="{FF2B5EF4-FFF2-40B4-BE49-F238E27FC236}">
                <a16:creationId xmlns:a16="http://schemas.microsoft.com/office/drawing/2014/main" id="{6822F896-ACD1-4E2A-B1E8-5C391FB27762}"/>
              </a:ext>
            </a:extLst>
          </p:cNvPr>
          <p:cNvSpPr/>
          <p:nvPr/>
        </p:nvSpPr>
        <p:spPr>
          <a:xfrm>
            <a:off x="8242469" y="1790700"/>
            <a:ext cx="1803061" cy="1843970"/>
          </a:xfrm>
          <a:prstGeom prst="roundRect">
            <a:avLst>
              <a:gd name="adj" fmla="val 781313"/>
            </a:avLst>
          </a:prstGeom>
          <a:noFill/>
          <a:ln w="50800" cap="flat" cmpd="sng">
            <a:solidFill>
              <a:srgbClr val="FF76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201" tIns="68201" rIns="68201" bIns="68201" anchor="ctr" anchorCtr="0">
            <a:noAutofit/>
          </a:bodyPr>
          <a:lstStyle/>
          <a:p>
            <a:endParaRPr sz="1194">
              <a:solidFill>
                <a:schemeClr val="tx1">
                  <a:lumMod val="85000"/>
                  <a:lumOff val="15000"/>
                </a:schemeClr>
              </a:solidFill>
              <a:latin typeface="DM Sans 24pt SemiBold" pitchFamily="2" charset="0"/>
            </a:endParaRPr>
          </a:p>
        </p:txBody>
      </p:sp>
      <p:sp>
        <p:nvSpPr>
          <p:cNvPr id="6" name="Google Shape;63;g2bb1949ee2e_0_31">
            <a:extLst>
              <a:ext uri="{FF2B5EF4-FFF2-40B4-BE49-F238E27FC236}">
                <a16:creationId xmlns:a16="http://schemas.microsoft.com/office/drawing/2014/main" id="{8EC5B0EC-7006-44FA-A2C9-639D8489B413}"/>
              </a:ext>
            </a:extLst>
          </p:cNvPr>
          <p:cNvSpPr/>
          <p:nvPr/>
        </p:nvSpPr>
        <p:spPr>
          <a:xfrm>
            <a:off x="8382000" y="2247900"/>
            <a:ext cx="1042194" cy="79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>
              <a:buClr>
                <a:srgbClr val="0E0E0E"/>
              </a:buClr>
              <a:buSzPts val="4800"/>
            </a:pPr>
            <a:r>
              <a:rPr lang="en-US" sz="6000" b="1" dirty="0">
                <a:solidFill>
                  <a:srgbClr val="FF7622"/>
                </a:solidFill>
                <a:latin typeface="DM Serif Display Regular" pitchFamily="2" charset="0"/>
                <a:sym typeface="Goldman"/>
              </a:rPr>
              <a:t>01</a:t>
            </a:r>
            <a:endParaRPr sz="4800" b="1" dirty="0">
              <a:solidFill>
                <a:srgbClr val="FF7622"/>
              </a:solidFill>
              <a:latin typeface="DM Serif Display Regular" pitchFamily="2" charset="0"/>
              <a:sym typeface="Calibri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8BB9B1D4-97D1-4219-A7C1-A9B1E3B2FE69}"/>
              </a:ext>
            </a:extLst>
          </p:cNvPr>
          <p:cNvSpPr/>
          <p:nvPr/>
        </p:nvSpPr>
        <p:spPr>
          <a:xfrm>
            <a:off x="16930345" y="9080622"/>
            <a:ext cx="409672" cy="50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3000" dirty="0">
                <a:latin typeface="DM Sans 14pt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3085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0000"/>
                    </a14:imgEffect>
                    <a14:imgEffect>
                      <a14:brightnessContrast bright="-48000"/>
                    </a14:imgEffect>
                  </a14:imgLayer>
                </a14:imgProps>
              </a:ext>
            </a:extLst>
          </a:blip>
          <a:srcRect/>
          <a:stretch>
            <a:fillRect t="-13000" b="-8000"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9;g2bb1949ee2e_0_31">
            <a:extLst>
              <a:ext uri="{FF2B5EF4-FFF2-40B4-BE49-F238E27FC236}">
                <a16:creationId xmlns:a16="http://schemas.microsoft.com/office/drawing/2014/main" id="{90CBC970-F2CC-4346-A51D-8503DC29D597}"/>
              </a:ext>
            </a:extLst>
          </p:cNvPr>
          <p:cNvSpPr/>
          <p:nvPr/>
        </p:nvSpPr>
        <p:spPr>
          <a:xfrm>
            <a:off x="727748" y="7429500"/>
            <a:ext cx="14948744" cy="1131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8800" dirty="0" err="1">
                <a:solidFill>
                  <a:schemeClr val="bg1"/>
                </a:solidFill>
                <a:latin typeface="DM Serif Display Regular"/>
                <a:ea typeface="DM Serif Display Regular"/>
                <a:cs typeface="DM Serif Display Regular" pitchFamily="34" charset="-120"/>
              </a:rPr>
              <a:t>Contexte</a:t>
            </a:r>
            <a:r>
              <a:rPr lang="en-US" sz="8800" dirty="0">
                <a:solidFill>
                  <a:schemeClr val="bg1"/>
                </a:solidFill>
                <a:latin typeface="DM Serif Display Regular"/>
                <a:ea typeface="DM Serif Display Regular"/>
                <a:cs typeface="DM Serif Display Regular" pitchFamily="34" charset="-120"/>
              </a:rPr>
              <a:t> du </a:t>
            </a:r>
            <a:r>
              <a:rPr lang="en-US" sz="8800" dirty="0" err="1">
                <a:solidFill>
                  <a:schemeClr val="bg1"/>
                </a:solidFill>
                <a:latin typeface="DM Serif Display Regular"/>
                <a:ea typeface="DM Serif Display Regular"/>
                <a:cs typeface="DM Serif Display Regular" pitchFamily="34" charset="-120"/>
              </a:rPr>
              <a:t>Projet</a:t>
            </a:r>
            <a:endParaRPr lang="en-US" sz="8800" dirty="0">
              <a:solidFill>
                <a:schemeClr val="bg1"/>
              </a:solidFill>
              <a:latin typeface="DM Serif Display Regular"/>
              <a:ea typeface="DM Serif Display Regular"/>
              <a:cs typeface="DM Serif Display Regular" pitchFamily="34" charset="-120"/>
            </a:endParaRPr>
          </a:p>
        </p:txBody>
      </p:sp>
      <p:sp>
        <p:nvSpPr>
          <p:cNvPr id="8" name="Google Shape;62;g2bb1949ee2e_0_31">
            <a:extLst>
              <a:ext uri="{FF2B5EF4-FFF2-40B4-BE49-F238E27FC236}">
                <a16:creationId xmlns:a16="http://schemas.microsoft.com/office/drawing/2014/main" id="{9B8FA52B-0C31-483F-A30E-18F15E546AFD}"/>
              </a:ext>
            </a:extLst>
          </p:cNvPr>
          <p:cNvSpPr/>
          <p:nvPr/>
        </p:nvSpPr>
        <p:spPr>
          <a:xfrm>
            <a:off x="15359955" y="2634894"/>
            <a:ext cx="1803061" cy="1843970"/>
          </a:xfrm>
          <a:prstGeom prst="roundRect">
            <a:avLst>
              <a:gd name="adj" fmla="val 781313"/>
            </a:avLst>
          </a:prstGeom>
          <a:noFill/>
          <a:ln w="508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201" tIns="68201" rIns="68201" bIns="68201" anchor="ctr" anchorCtr="0">
            <a:noAutofit/>
          </a:bodyPr>
          <a:lstStyle/>
          <a:p>
            <a:endParaRPr sz="1194">
              <a:solidFill>
                <a:schemeClr val="tx1">
                  <a:lumMod val="85000"/>
                  <a:lumOff val="15000"/>
                </a:schemeClr>
              </a:solidFill>
              <a:latin typeface="DM Sans 24pt SemiBold" pitchFamily="2" charset="0"/>
            </a:endParaRPr>
          </a:p>
        </p:txBody>
      </p:sp>
      <p:sp>
        <p:nvSpPr>
          <p:cNvPr id="9" name="Google Shape;63;g2bb1949ee2e_0_31">
            <a:extLst>
              <a:ext uri="{FF2B5EF4-FFF2-40B4-BE49-F238E27FC236}">
                <a16:creationId xmlns:a16="http://schemas.microsoft.com/office/drawing/2014/main" id="{45CD8000-53F3-49DA-BF32-38E3FACF3B1C}"/>
              </a:ext>
            </a:extLst>
          </p:cNvPr>
          <p:cNvSpPr/>
          <p:nvPr/>
        </p:nvSpPr>
        <p:spPr>
          <a:xfrm>
            <a:off x="15718514" y="3162300"/>
            <a:ext cx="893086" cy="45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>
              <a:buClr>
                <a:srgbClr val="0E0E0E"/>
              </a:buClr>
              <a:buSzPts val="4800"/>
            </a:pPr>
            <a:r>
              <a:rPr lang="en-US" sz="5399" b="1" dirty="0">
                <a:solidFill>
                  <a:schemeClr val="bg1">
                    <a:lumMod val="95000"/>
                  </a:schemeClr>
                </a:solidFill>
                <a:latin typeface="DM Serif Display Regular" pitchFamily="2" charset="0"/>
                <a:sym typeface="Goldman"/>
              </a:rPr>
              <a:t>02</a:t>
            </a:r>
            <a:endParaRPr sz="4028" b="1" dirty="0">
              <a:solidFill>
                <a:schemeClr val="bg1">
                  <a:lumMod val="95000"/>
                </a:schemeClr>
              </a:solidFill>
              <a:latin typeface="DM Serif Display Regular" pitchFamily="2" charset="0"/>
              <a:sym typeface="Calibri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CA029A09-927B-457A-B4C2-72C9E18DFAE2}"/>
              </a:ext>
            </a:extLst>
          </p:cNvPr>
          <p:cNvCxnSpPr>
            <a:cxnSpLocks/>
          </p:cNvCxnSpPr>
          <p:nvPr/>
        </p:nvCxnSpPr>
        <p:spPr>
          <a:xfrm>
            <a:off x="-962390" y="9502748"/>
            <a:ext cx="537532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EF5F7B28-CEBF-4705-8E51-CE433E212683}"/>
              </a:ext>
            </a:extLst>
          </p:cNvPr>
          <p:cNvCxnSpPr>
            <a:cxnSpLocks/>
          </p:cNvCxnSpPr>
          <p:nvPr/>
        </p:nvCxnSpPr>
        <p:spPr>
          <a:xfrm>
            <a:off x="4892730" y="9502748"/>
            <a:ext cx="16929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51324F41-92E1-45E2-A7F1-B375EA1CD56A}"/>
              </a:ext>
            </a:extLst>
          </p:cNvPr>
          <p:cNvCxnSpPr>
            <a:cxnSpLocks/>
          </p:cNvCxnSpPr>
          <p:nvPr/>
        </p:nvCxnSpPr>
        <p:spPr>
          <a:xfrm>
            <a:off x="15054369" y="878699"/>
            <a:ext cx="537532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07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22315" y="3429000"/>
            <a:ext cx="4901479" cy="6993794"/>
            <a:chOff x="0" y="0"/>
            <a:chExt cx="1474609" cy="21040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4609" cy="2104082"/>
            </a:xfrm>
            <a:custGeom>
              <a:avLst/>
              <a:gdLst/>
              <a:ahLst/>
              <a:cxnLst/>
              <a:rect l="l" t="t" r="r" b="b"/>
              <a:pathLst>
                <a:path w="1474609" h="2104082">
                  <a:moveTo>
                    <a:pt x="0" y="0"/>
                  </a:moveTo>
                  <a:lnTo>
                    <a:pt x="1474609" y="0"/>
                  </a:lnTo>
                  <a:lnTo>
                    <a:pt x="1474609" y="2104082"/>
                  </a:lnTo>
                  <a:lnTo>
                    <a:pt x="0" y="2104082"/>
                  </a:lnTo>
                  <a:close/>
                </a:path>
              </a:pathLst>
            </a:custGeom>
            <a:solidFill>
              <a:srgbClr val="EBE2D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74609" cy="2142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363200" y="1427423"/>
            <a:ext cx="10001250" cy="8229600"/>
            <a:chOff x="0" y="0"/>
            <a:chExt cx="1184942" cy="1274980"/>
          </a:xfrm>
          <a:blipFill>
            <a:blip r:embed="rId2"/>
            <a:stretch>
              <a:fillRect t="-1960" r="-11597" b="-2336"/>
            </a:stretch>
          </a:blip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1184942" cy="1274980"/>
            </a:xfrm>
            <a:custGeom>
              <a:avLst/>
              <a:gdLst/>
              <a:ahLst/>
              <a:cxnLst/>
              <a:rect l="l" t="t" r="r" b="b"/>
              <a:pathLst>
                <a:path w="1184942" h="1274980">
                  <a:moveTo>
                    <a:pt x="0" y="0"/>
                  </a:moveTo>
                  <a:lnTo>
                    <a:pt x="1184942" y="0"/>
                  </a:lnTo>
                  <a:lnTo>
                    <a:pt x="1184942" y="1274980"/>
                  </a:lnTo>
                  <a:lnTo>
                    <a:pt x="0" y="1274980"/>
                  </a:lnTo>
                  <a:close/>
                </a:path>
              </a:pathLst>
            </a:custGeom>
            <a:grpFill/>
          </p:spPr>
        </p:sp>
      </p:grpSp>
      <p:sp>
        <p:nvSpPr>
          <p:cNvPr id="14" name="Google Shape;73;g2c3cba21922_0_51">
            <a:extLst>
              <a:ext uri="{FF2B5EF4-FFF2-40B4-BE49-F238E27FC236}">
                <a16:creationId xmlns:a16="http://schemas.microsoft.com/office/drawing/2014/main" id="{A6FE3D63-8DDA-4E3B-A8E1-8EFD9BFD2232}"/>
              </a:ext>
            </a:extLst>
          </p:cNvPr>
          <p:cNvSpPr/>
          <p:nvPr/>
        </p:nvSpPr>
        <p:spPr>
          <a:xfrm>
            <a:off x="781342" y="1104900"/>
            <a:ext cx="75392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272727"/>
              </a:buClr>
              <a:buSzPts val="8000"/>
            </a:pPr>
            <a:r>
              <a:rPr lang="en-US" sz="6000" dirty="0" err="1">
                <a:solidFill>
                  <a:srgbClr val="272727"/>
                </a:solidFill>
                <a:latin typeface="DM Serif Display"/>
                <a:sym typeface="DM Serif Display"/>
              </a:rPr>
              <a:t>Contexte</a:t>
            </a:r>
            <a:r>
              <a:rPr lang="en-US" sz="6000" dirty="0">
                <a:solidFill>
                  <a:srgbClr val="272727"/>
                </a:solidFill>
                <a:latin typeface="DM Serif Display"/>
                <a:sym typeface="DM Serif Display"/>
              </a:rPr>
              <a:t> du </a:t>
            </a:r>
            <a:r>
              <a:rPr lang="en-US" sz="6000" dirty="0" err="1">
                <a:solidFill>
                  <a:srgbClr val="FF7622"/>
                </a:solidFill>
                <a:latin typeface="DM Serif Display"/>
                <a:sym typeface="DM Serif Display"/>
              </a:rPr>
              <a:t>projet</a:t>
            </a:r>
            <a:endParaRPr sz="6000" dirty="0">
              <a:solidFill>
                <a:srgbClr val="FF7622"/>
              </a:solidFill>
              <a:latin typeface="DM Serif Display"/>
              <a:sym typeface="Calibri"/>
            </a:endParaRPr>
          </a:p>
        </p:txBody>
      </p:sp>
      <p:sp>
        <p:nvSpPr>
          <p:cNvPr id="15" name="Google Shape;31;g2c3cba21922_0_10">
            <a:extLst>
              <a:ext uri="{FF2B5EF4-FFF2-40B4-BE49-F238E27FC236}">
                <a16:creationId xmlns:a16="http://schemas.microsoft.com/office/drawing/2014/main" id="{0EACDEE3-3C64-473C-96CB-B6E1B61AB389}"/>
              </a:ext>
            </a:extLst>
          </p:cNvPr>
          <p:cNvSpPr/>
          <p:nvPr/>
        </p:nvSpPr>
        <p:spPr>
          <a:xfrm>
            <a:off x="849849" y="2197458"/>
            <a:ext cx="8979951" cy="2488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Le projet YANSNET vise à créer un écosystème numérique interconnecté pour les étudiants du campus UCAC-ICAM de Yansoki, Douala – Cameroun. 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endParaRPr lang="fr-FR" sz="2800" dirty="0">
              <a:solidFill>
                <a:srgbClr val="0E0E0E"/>
              </a:solidFill>
              <a:latin typeface="DM Sans 14pt Medium" pitchFamily="2" charset="0"/>
              <a:ea typeface="DM Sans"/>
              <a:cs typeface="DM Sans"/>
              <a:sym typeface="DM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6000" dirty="0">
                <a:solidFill>
                  <a:srgbClr val="272727"/>
                </a:solidFill>
                <a:latin typeface="DM Serif Display"/>
                <a:sym typeface="DM Sans"/>
              </a:rPr>
              <a:t>Objectif </a:t>
            </a:r>
            <a:r>
              <a:rPr lang="fr-FR" sz="6000" dirty="0">
                <a:solidFill>
                  <a:srgbClr val="FF7622"/>
                </a:solidFill>
                <a:latin typeface="DM Serif Display"/>
                <a:sym typeface="DM Sans"/>
              </a:rPr>
              <a:t>Principal</a:t>
            </a:r>
            <a:r>
              <a:rPr lang="fr-FR" sz="6000" dirty="0">
                <a:solidFill>
                  <a:srgbClr val="272727"/>
                </a:solidFill>
                <a:latin typeface="DM Serif Display"/>
                <a:sym typeface="DM Sans"/>
              </a:rPr>
              <a:t> </a:t>
            </a:r>
            <a:r>
              <a:rPr lang="fr-FR" sz="2400" dirty="0">
                <a:solidFill>
                  <a:srgbClr val="0E0E0E"/>
                </a:solidFill>
                <a:latin typeface="DM Sans 14pt Medium" pitchFamily="2" charset="0"/>
                <a:cs typeface="DM Sans"/>
                <a:sym typeface="DM Sans"/>
              </a:rPr>
              <a:t> 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cs typeface="DM Sans"/>
                <a:sym typeface="DM Sans"/>
              </a:rPr>
              <a:t>Créer une plateforme numérique qui encourage les interactions sociales, facilite la communication et promeut un sentiment de communauté parmi les étudiants de l'UCAC-ICAM.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endParaRPr lang="fr-FR" sz="6000" dirty="0">
              <a:solidFill>
                <a:srgbClr val="272727"/>
              </a:solidFill>
              <a:latin typeface="DM Serif Display"/>
              <a:sym typeface="DM Sans"/>
            </a:endParaRP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D37AB63A-A5FC-4AC7-B82E-81E6A65E96F6}"/>
              </a:ext>
            </a:extLst>
          </p:cNvPr>
          <p:cNvSpPr txBox="1"/>
          <p:nvPr/>
        </p:nvSpPr>
        <p:spPr>
          <a:xfrm>
            <a:off x="17432275" y="9720343"/>
            <a:ext cx="1016100" cy="477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5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0AFE9F1-5D52-4974-94B6-48E8B2EB3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00200" y="7621099"/>
            <a:ext cx="5510430" cy="4676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50885" y="3429000"/>
            <a:ext cx="4901479" cy="6993794"/>
            <a:chOff x="0" y="0"/>
            <a:chExt cx="1474609" cy="21040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4609" cy="2104082"/>
            </a:xfrm>
            <a:custGeom>
              <a:avLst/>
              <a:gdLst/>
              <a:ahLst/>
              <a:cxnLst/>
              <a:rect l="l" t="t" r="r" b="b"/>
              <a:pathLst>
                <a:path w="1474609" h="2104082">
                  <a:moveTo>
                    <a:pt x="0" y="0"/>
                  </a:moveTo>
                  <a:lnTo>
                    <a:pt x="1474609" y="0"/>
                  </a:lnTo>
                  <a:lnTo>
                    <a:pt x="1474609" y="2104082"/>
                  </a:lnTo>
                  <a:lnTo>
                    <a:pt x="0" y="2104082"/>
                  </a:lnTo>
                  <a:close/>
                </a:path>
              </a:pathLst>
            </a:custGeom>
            <a:solidFill>
              <a:srgbClr val="EBE2D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74609" cy="2142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810000" y="1427423"/>
            <a:ext cx="10001250" cy="8229600"/>
            <a:chOff x="0" y="0"/>
            <a:chExt cx="1184942" cy="1274980"/>
          </a:xfrm>
          <a:blipFill>
            <a:blip r:embed="rId2"/>
            <a:stretch>
              <a:fillRect t="-1960" r="-11597" b="-2336"/>
            </a:stretch>
          </a:blip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1184942" cy="1274980"/>
            </a:xfrm>
            <a:custGeom>
              <a:avLst/>
              <a:gdLst/>
              <a:ahLst/>
              <a:cxnLst/>
              <a:rect l="l" t="t" r="r" b="b"/>
              <a:pathLst>
                <a:path w="1184942" h="1274980">
                  <a:moveTo>
                    <a:pt x="0" y="0"/>
                  </a:moveTo>
                  <a:lnTo>
                    <a:pt x="1184942" y="0"/>
                  </a:lnTo>
                  <a:lnTo>
                    <a:pt x="1184942" y="1274980"/>
                  </a:lnTo>
                  <a:lnTo>
                    <a:pt x="0" y="1274980"/>
                  </a:lnTo>
                  <a:close/>
                </a:path>
              </a:pathLst>
            </a:custGeom>
            <a:grpFill/>
          </p:spPr>
        </p:sp>
      </p:grpSp>
      <p:sp>
        <p:nvSpPr>
          <p:cNvPr id="13" name="TextBox 15">
            <a:extLst>
              <a:ext uri="{FF2B5EF4-FFF2-40B4-BE49-F238E27FC236}">
                <a16:creationId xmlns:a16="http://schemas.microsoft.com/office/drawing/2014/main" id="{D37AB63A-A5FC-4AC7-B82E-81E6A65E96F6}"/>
              </a:ext>
            </a:extLst>
          </p:cNvPr>
          <p:cNvSpPr txBox="1"/>
          <p:nvPr/>
        </p:nvSpPr>
        <p:spPr>
          <a:xfrm>
            <a:off x="16916400" y="9418175"/>
            <a:ext cx="1016100" cy="477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6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0AFE9F1-5D52-4974-94B6-48E8B2EB3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8200" y="-4667390"/>
            <a:ext cx="5510430" cy="4676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73;g2c3cba21922_0_51">
            <a:extLst>
              <a:ext uri="{FF2B5EF4-FFF2-40B4-BE49-F238E27FC236}">
                <a16:creationId xmlns:a16="http://schemas.microsoft.com/office/drawing/2014/main" id="{C6E867AB-7DCE-4100-A81A-33EA9B1ABCE1}"/>
              </a:ext>
            </a:extLst>
          </p:cNvPr>
          <p:cNvSpPr/>
          <p:nvPr/>
        </p:nvSpPr>
        <p:spPr>
          <a:xfrm>
            <a:off x="7182142" y="2387959"/>
            <a:ext cx="75392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272727"/>
              </a:buClr>
              <a:buSzPts val="8000"/>
            </a:pPr>
            <a:r>
              <a:rPr lang="en-US" sz="6000" dirty="0">
                <a:solidFill>
                  <a:srgbClr val="272727"/>
                </a:solidFill>
                <a:latin typeface="DM Serif Display"/>
                <a:sym typeface="DM Serif Display"/>
              </a:rPr>
              <a:t>Contraintes du </a:t>
            </a:r>
            <a:r>
              <a:rPr lang="en-US" sz="6000" dirty="0" err="1">
                <a:solidFill>
                  <a:srgbClr val="FF7622"/>
                </a:solidFill>
                <a:latin typeface="DM Serif Display"/>
                <a:sym typeface="DM Serif Display"/>
              </a:rPr>
              <a:t>projet</a:t>
            </a:r>
            <a:endParaRPr sz="6000" dirty="0">
              <a:solidFill>
                <a:srgbClr val="FF7622"/>
              </a:solidFill>
              <a:latin typeface="DM Serif Display"/>
              <a:sym typeface="Calibri"/>
            </a:endParaRPr>
          </a:p>
        </p:txBody>
      </p:sp>
      <p:sp>
        <p:nvSpPr>
          <p:cNvPr id="16" name="Google Shape;31;g2c3cba21922_0_10">
            <a:extLst>
              <a:ext uri="{FF2B5EF4-FFF2-40B4-BE49-F238E27FC236}">
                <a16:creationId xmlns:a16="http://schemas.microsoft.com/office/drawing/2014/main" id="{836C46FF-DC4E-4506-B130-608418A3B48C}"/>
              </a:ext>
            </a:extLst>
          </p:cNvPr>
          <p:cNvSpPr/>
          <p:nvPr/>
        </p:nvSpPr>
        <p:spPr>
          <a:xfrm>
            <a:off x="7182142" y="4109395"/>
            <a:ext cx="10427751" cy="2793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Tx/>
              <a:buChar char="-"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Accès difficile aux livrables des années précédentes 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Tx/>
              <a:buChar char="-"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Manque de traçabilité sur les travaux qui ont été effectués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Tx/>
              <a:buChar char="-"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Réception tardive du cahier de charges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Tx/>
              <a:buChar char="-"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Absence du dossier de conception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Tx/>
              <a:buChar char="-"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Code non documenté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Tx/>
              <a:buChar char="-"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Le temps pour le dépôt des premiers livrables 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endParaRPr lang="fr-FR" sz="2800" dirty="0">
              <a:solidFill>
                <a:srgbClr val="0E0E0E"/>
              </a:solidFill>
              <a:latin typeface="DM Sans 14pt Medium" pitchFamily="2" charset="0"/>
              <a:ea typeface="DM Sans"/>
              <a:cs typeface="DM Sans"/>
              <a:sym typeface="DM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endParaRPr lang="fr-FR" sz="6600" dirty="0">
              <a:solidFill>
                <a:srgbClr val="272727"/>
              </a:solidFill>
              <a:latin typeface="DM Serif Display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4003670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9030882-1BA0-4711-AE51-A4156A929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57800" y="-2247900"/>
            <a:ext cx="26283818" cy="14782800"/>
          </a:xfrm>
          <a:prstGeom prst="rect">
            <a:avLst/>
          </a:prstGeom>
        </p:spPr>
      </p:pic>
      <p:sp>
        <p:nvSpPr>
          <p:cNvPr id="71" name="Google Shape;71;g2c3cba21922_0_51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73" name="Google Shape;73;g2c3cba21922_0_51"/>
          <p:cNvSpPr/>
          <p:nvPr/>
        </p:nvSpPr>
        <p:spPr>
          <a:xfrm>
            <a:off x="322068" y="4243307"/>
            <a:ext cx="17643864" cy="2195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272727"/>
              </a:buClr>
              <a:buSzPts val="8000"/>
            </a:pPr>
            <a:r>
              <a:rPr lang="en-US" sz="12448" dirty="0">
                <a:solidFill>
                  <a:srgbClr val="272727"/>
                </a:solidFill>
                <a:latin typeface="DM Serif Display"/>
                <a:sym typeface="DM Serif Display"/>
              </a:rPr>
              <a:t>Présentation du plan </a:t>
            </a:r>
            <a:r>
              <a:rPr lang="en-US" sz="12448" dirty="0" err="1">
                <a:solidFill>
                  <a:srgbClr val="272727"/>
                </a:solidFill>
                <a:latin typeface="DM Serif Display"/>
                <a:sym typeface="DM Serif Display"/>
              </a:rPr>
              <a:t>projet</a:t>
            </a:r>
            <a:endParaRPr sz="12448" dirty="0">
              <a:solidFill>
                <a:srgbClr val="272727"/>
              </a:solidFill>
              <a:latin typeface="DM Serif Display"/>
              <a:sym typeface="Calibri"/>
            </a:endParaRP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11A5E9E8-D46D-4234-A890-3CE645AE1720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7</a:t>
            </a:r>
          </a:p>
        </p:txBody>
      </p:sp>
      <p:sp>
        <p:nvSpPr>
          <p:cNvPr id="6" name="Google Shape;62;g2bb1949ee2e_0_31">
            <a:extLst>
              <a:ext uri="{FF2B5EF4-FFF2-40B4-BE49-F238E27FC236}">
                <a16:creationId xmlns:a16="http://schemas.microsoft.com/office/drawing/2014/main" id="{64BCCED6-688C-4C09-8274-4772699FD055}"/>
              </a:ext>
            </a:extLst>
          </p:cNvPr>
          <p:cNvSpPr/>
          <p:nvPr/>
        </p:nvSpPr>
        <p:spPr>
          <a:xfrm>
            <a:off x="8242469" y="1790700"/>
            <a:ext cx="1803061" cy="1843970"/>
          </a:xfrm>
          <a:prstGeom prst="roundRect">
            <a:avLst>
              <a:gd name="adj" fmla="val 781313"/>
            </a:avLst>
          </a:prstGeom>
          <a:noFill/>
          <a:ln w="50800" cap="flat" cmpd="sng">
            <a:solidFill>
              <a:srgbClr val="FF76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201" tIns="68201" rIns="68201" bIns="68201" anchor="ctr" anchorCtr="0">
            <a:noAutofit/>
          </a:bodyPr>
          <a:lstStyle/>
          <a:p>
            <a:endParaRPr sz="1194">
              <a:solidFill>
                <a:schemeClr val="tx1">
                  <a:lumMod val="85000"/>
                  <a:lumOff val="15000"/>
                </a:schemeClr>
              </a:solidFill>
              <a:latin typeface="DM Sans 24pt SemiBold" pitchFamily="2" charset="0"/>
            </a:endParaRPr>
          </a:p>
        </p:txBody>
      </p:sp>
      <p:sp>
        <p:nvSpPr>
          <p:cNvPr id="8" name="Google Shape;63;g2bb1949ee2e_0_31">
            <a:extLst>
              <a:ext uri="{FF2B5EF4-FFF2-40B4-BE49-F238E27FC236}">
                <a16:creationId xmlns:a16="http://schemas.microsoft.com/office/drawing/2014/main" id="{A1264E35-ADB0-4737-821B-B7EDC43FA149}"/>
              </a:ext>
            </a:extLst>
          </p:cNvPr>
          <p:cNvSpPr/>
          <p:nvPr/>
        </p:nvSpPr>
        <p:spPr>
          <a:xfrm>
            <a:off x="8482806" y="2289538"/>
            <a:ext cx="1042194" cy="79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>
              <a:buClr>
                <a:srgbClr val="0E0E0E"/>
              </a:buClr>
              <a:buSzPts val="4800"/>
            </a:pPr>
            <a:r>
              <a:rPr lang="en-US" sz="6000" b="1" dirty="0">
                <a:solidFill>
                  <a:srgbClr val="FF7622"/>
                </a:solidFill>
                <a:latin typeface="DM Serif Display Regular" pitchFamily="2" charset="0"/>
                <a:sym typeface="Goldman"/>
              </a:rPr>
              <a:t>02</a:t>
            </a:r>
            <a:endParaRPr sz="4800" b="1" dirty="0">
              <a:solidFill>
                <a:srgbClr val="FF7622"/>
              </a:solidFill>
              <a:latin typeface="DM Serif Display Regular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1384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9030882-1BA0-4711-AE51-A4156A929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57800" y="-2796540"/>
            <a:ext cx="26283818" cy="14782800"/>
          </a:xfrm>
          <a:prstGeom prst="rect">
            <a:avLst/>
          </a:prstGeom>
        </p:spPr>
      </p:pic>
      <p:sp>
        <p:nvSpPr>
          <p:cNvPr id="71" name="Google Shape;71;g2c3cba21922_0_51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11A5E9E8-D46D-4234-A890-3CE645AE1720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8</a:t>
            </a:r>
          </a:p>
        </p:txBody>
      </p:sp>
      <p:sp>
        <p:nvSpPr>
          <p:cNvPr id="10" name="Google Shape;438;g2c3cba21922_0_400">
            <a:extLst>
              <a:ext uri="{FF2B5EF4-FFF2-40B4-BE49-F238E27FC236}">
                <a16:creationId xmlns:a16="http://schemas.microsoft.com/office/drawing/2014/main" id="{A05CED31-1443-4078-8C71-2A8226812CE2}"/>
              </a:ext>
            </a:extLst>
          </p:cNvPr>
          <p:cNvSpPr/>
          <p:nvPr/>
        </p:nvSpPr>
        <p:spPr>
          <a:xfrm>
            <a:off x="5029200" y="3543300"/>
            <a:ext cx="82296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0E0E0E"/>
              </a:buClr>
              <a:buSzPts val="4800"/>
            </a:pPr>
            <a:r>
              <a:rPr lang="en-US" sz="11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 la </a:t>
            </a:r>
            <a:r>
              <a:rPr lang="en-US" sz="11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portée</a:t>
            </a:r>
            <a:endParaRPr sz="11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8336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c3cba21922_0_400"/>
          <p:cNvSpPr/>
          <p:nvPr/>
        </p:nvSpPr>
        <p:spPr>
          <a:xfrm>
            <a:off x="0" y="0"/>
            <a:ext cx="8867670" cy="102863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4" name="Google Shape;434;g2c3cba21922_0_400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6" name="Google Shape;436;g2c3cba21922_0_400"/>
          <p:cNvSpPr/>
          <p:nvPr/>
        </p:nvSpPr>
        <p:spPr>
          <a:xfrm>
            <a:off x="12658660" y="3019702"/>
            <a:ext cx="4286142" cy="198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8" name="Google Shape;438;g2c3cba21922_0_400"/>
          <p:cNvSpPr/>
          <p:nvPr/>
        </p:nvSpPr>
        <p:spPr>
          <a:xfrm>
            <a:off x="533400" y="476272"/>
            <a:ext cx="73152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 la </a:t>
            </a:r>
            <a:r>
              <a:rPr lang="en-US" sz="4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portée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0E37048-BA0F-4ED7-82DD-E6CE2BA1E7B8}"/>
              </a:ext>
            </a:extLst>
          </p:cNvPr>
          <p:cNvSpPr txBox="1"/>
          <p:nvPr/>
        </p:nvSpPr>
        <p:spPr>
          <a:xfrm>
            <a:off x="22720631" y="12625558"/>
            <a:ext cx="1016100" cy="50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600" b="1" dirty="0">
                <a:latin typeface="DM Sans 14pt Medium" pitchFamily="2" charset="0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A8F8C6CF-ED64-4AB5-B41A-B9D2133DCCEE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9</a:t>
            </a:r>
          </a:p>
        </p:txBody>
      </p:sp>
      <p:sp>
        <p:nvSpPr>
          <p:cNvPr id="12" name="Google Shape;31;g2c3cba21922_0_10">
            <a:extLst>
              <a:ext uri="{FF2B5EF4-FFF2-40B4-BE49-F238E27FC236}">
                <a16:creationId xmlns:a16="http://schemas.microsoft.com/office/drawing/2014/main" id="{BEA037FD-CC04-46E0-BCB4-3E4BE5EBC0C1}"/>
              </a:ext>
            </a:extLst>
          </p:cNvPr>
          <p:cNvSpPr/>
          <p:nvPr/>
        </p:nvSpPr>
        <p:spPr>
          <a:xfrm>
            <a:off x="6644640" y="1476395"/>
            <a:ext cx="499872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Périmètre inclus/exclus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159FD3-4E48-4180-804B-79F452F74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198" y="2465066"/>
            <a:ext cx="15519829" cy="7040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c3cba21922_0_400"/>
          <p:cNvSpPr/>
          <p:nvPr/>
        </p:nvSpPr>
        <p:spPr>
          <a:xfrm>
            <a:off x="0" y="0"/>
            <a:ext cx="8867670" cy="102863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4" name="Google Shape;434;g2c3cba21922_0_400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6" name="Google Shape;436;g2c3cba21922_0_400"/>
          <p:cNvSpPr/>
          <p:nvPr/>
        </p:nvSpPr>
        <p:spPr>
          <a:xfrm>
            <a:off x="12658660" y="3019702"/>
            <a:ext cx="4286142" cy="198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8" name="Google Shape;438;g2c3cba21922_0_400"/>
          <p:cNvSpPr/>
          <p:nvPr/>
        </p:nvSpPr>
        <p:spPr>
          <a:xfrm>
            <a:off x="533400" y="476272"/>
            <a:ext cx="73152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 la </a:t>
            </a:r>
            <a:r>
              <a:rPr lang="en-US" sz="4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portée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0E37048-BA0F-4ED7-82DD-E6CE2BA1E7B8}"/>
              </a:ext>
            </a:extLst>
          </p:cNvPr>
          <p:cNvSpPr txBox="1"/>
          <p:nvPr/>
        </p:nvSpPr>
        <p:spPr>
          <a:xfrm>
            <a:off x="22720631" y="12625558"/>
            <a:ext cx="1016100" cy="50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600" b="1" dirty="0">
                <a:latin typeface="DM Sans 14pt Medium" pitchFamily="2" charset="0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A8F8C6CF-ED64-4AB5-B41A-B9D2133DCCEE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10</a:t>
            </a:r>
          </a:p>
        </p:txBody>
      </p:sp>
      <p:sp>
        <p:nvSpPr>
          <p:cNvPr id="12" name="Google Shape;31;g2c3cba21922_0_10">
            <a:extLst>
              <a:ext uri="{FF2B5EF4-FFF2-40B4-BE49-F238E27FC236}">
                <a16:creationId xmlns:a16="http://schemas.microsoft.com/office/drawing/2014/main" id="{BEA037FD-CC04-46E0-BCB4-3E4BE5EBC0C1}"/>
              </a:ext>
            </a:extLst>
          </p:cNvPr>
          <p:cNvSpPr/>
          <p:nvPr/>
        </p:nvSpPr>
        <p:spPr>
          <a:xfrm>
            <a:off x="6644640" y="1409700"/>
            <a:ext cx="499872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Work Breakdown Structure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B488D0-4A8F-4FC9-8CE7-13B1D565E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394" y="2289797"/>
            <a:ext cx="9133212" cy="777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741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c3cba21922_0_400"/>
          <p:cNvSpPr/>
          <p:nvPr/>
        </p:nvSpPr>
        <p:spPr>
          <a:xfrm>
            <a:off x="0" y="0"/>
            <a:ext cx="8867670" cy="102863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4" name="Google Shape;434;g2c3cba21922_0_400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6" name="Google Shape;436;g2c3cba21922_0_400"/>
          <p:cNvSpPr/>
          <p:nvPr/>
        </p:nvSpPr>
        <p:spPr>
          <a:xfrm>
            <a:off x="12658660" y="3019702"/>
            <a:ext cx="4286142" cy="198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8" name="Google Shape;438;g2c3cba21922_0_400"/>
          <p:cNvSpPr/>
          <p:nvPr/>
        </p:nvSpPr>
        <p:spPr>
          <a:xfrm>
            <a:off x="533400" y="476272"/>
            <a:ext cx="73152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 la </a:t>
            </a:r>
            <a:r>
              <a:rPr lang="en-US" sz="4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portée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0E37048-BA0F-4ED7-82DD-E6CE2BA1E7B8}"/>
              </a:ext>
            </a:extLst>
          </p:cNvPr>
          <p:cNvSpPr txBox="1"/>
          <p:nvPr/>
        </p:nvSpPr>
        <p:spPr>
          <a:xfrm>
            <a:off x="22720631" y="12625558"/>
            <a:ext cx="1016100" cy="50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600" b="1" dirty="0">
                <a:latin typeface="DM Sans 14pt Medium" pitchFamily="2" charset="0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A8F8C6CF-ED64-4AB5-B41A-B9D2133DCCEE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11</a:t>
            </a:r>
          </a:p>
        </p:txBody>
      </p:sp>
      <p:sp>
        <p:nvSpPr>
          <p:cNvPr id="12" name="Google Shape;31;g2c3cba21922_0_10">
            <a:extLst>
              <a:ext uri="{FF2B5EF4-FFF2-40B4-BE49-F238E27FC236}">
                <a16:creationId xmlns:a16="http://schemas.microsoft.com/office/drawing/2014/main" id="{BEA037FD-CC04-46E0-BCB4-3E4BE5EBC0C1}"/>
              </a:ext>
            </a:extLst>
          </p:cNvPr>
          <p:cNvSpPr/>
          <p:nvPr/>
        </p:nvSpPr>
        <p:spPr>
          <a:xfrm>
            <a:off x="6136990" y="2140397"/>
            <a:ext cx="601402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Contrôle et évolution du périmètre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9D3A94-ECDD-469B-9652-68A76D482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804" y="3355695"/>
            <a:ext cx="11430392" cy="573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366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9030882-1BA0-4711-AE51-A4156A929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57800" y="-2247900"/>
            <a:ext cx="26283818" cy="14782800"/>
          </a:xfrm>
          <a:prstGeom prst="rect">
            <a:avLst/>
          </a:prstGeom>
        </p:spPr>
      </p:pic>
      <p:sp>
        <p:nvSpPr>
          <p:cNvPr id="71" name="Google Shape;71;g2c3cba21922_0_51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11A5E9E8-D46D-4234-A890-3CE645AE1720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12</a:t>
            </a:r>
          </a:p>
        </p:txBody>
      </p:sp>
      <p:sp>
        <p:nvSpPr>
          <p:cNvPr id="10" name="Google Shape;438;g2c3cba21922_0_400">
            <a:extLst>
              <a:ext uri="{FF2B5EF4-FFF2-40B4-BE49-F238E27FC236}">
                <a16:creationId xmlns:a16="http://schemas.microsoft.com/office/drawing/2014/main" id="{A05CED31-1443-4078-8C71-2A8226812CE2}"/>
              </a:ext>
            </a:extLst>
          </p:cNvPr>
          <p:cNvSpPr/>
          <p:nvPr/>
        </p:nvSpPr>
        <p:spPr>
          <a:xfrm>
            <a:off x="5029200" y="3543300"/>
            <a:ext cx="82296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0E0E0E"/>
              </a:buClr>
              <a:buSzPts val="4800"/>
            </a:pPr>
            <a:r>
              <a:rPr lang="en-US" sz="11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 la </a:t>
            </a:r>
            <a:r>
              <a:rPr lang="en-US" sz="11000" dirty="0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durée</a:t>
            </a:r>
            <a:endParaRPr sz="11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6397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c3cba21922_0_400"/>
          <p:cNvSpPr/>
          <p:nvPr/>
        </p:nvSpPr>
        <p:spPr>
          <a:xfrm>
            <a:off x="0" y="0"/>
            <a:ext cx="8867670" cy="102863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4" name="Google Shape;434;g2c3cba21922_0_400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6" name="Google Shape;436;g2c3cba21922_0_400"/>
          <p:cNvSpPr/>
          <p:nvPr/>
        </p:nvSpPr>
        <p:spPr>
          <a:xfrm>
            <a:off x="12658660" y="3019702"/>
            <a:ext cx="4286142" cy="198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8" name="Google Shape;438;g2c3cba21922_0_400"/>
          <p:cNvSpPr/>
          <p:nvPr/>
        </p:nvSpPr>
        <p:spPr>
          <a:xfrm>
            <a:off x="533400" y="476272"/>
            <a:ext cx="73152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 la </a:t>
            </a:r>
            <a:r>
              <a:rPr lang="en-US" sz="4000" dirty="0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durée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0E37048-BA0F-4ED7-82DD-E6CE2BA1E7B8}"/>
              </a:ext>
            </a:extLst>
          </p:cNvPr>
          <p:cNvSpPr txBox="1"/>
          <p:nvPr/>
        </p:nvSpPr>
        <p:spPr>
          <a:xfrm>
            <a:off x="22720631" y="12625558"/>
            <a:ext cx="1016100" cy="50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600" b="1" dirty="0">
                <a:latin typeface="DM Sans 14pt Medium" pitchFamily="2" charset="0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A8F8C6CF-ED64-4AB5-B41A-B9D2133DCCEE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14</a:t>
            </a:r>
          </a:p>
        </p:txBody>
      </p:sp>
      <p:sp>
        <p:nvSpPr>
          <p:cNvPr id="12" name="Google Shape;31;g2c3cba21922_0_10">
            <a:extLst>
              <a:ext uri="{FF2B5EF4-FFF2-40B4-BE49-F238E27FC236}">
                <a16:creationId xmlns:a16="http://schemas.microsoft.com/office/drawing/2014/main" id="{BEA037FD-CC04-46E0-BCB4-3E4BE5EBC0C1}"/>
              </a:ext>
            </a:extLst>
          </p:cNvPr>
          <p:cNvSpPr/>
          <p:nvPr/>
        </p:nvSpPr>
        <p:spPr>
          <a:xfrm>
            <a:off x="6136990" y="2019300"/>
            <a:ext cx="601402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Planning Gantt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DFB61D-499E-4871-9952-9CE17142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662" y="3043549"/>
            <a:ext cx="15116675" cy="648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688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1408F1-7164-463D-BF9E-63B7EC93A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550" y="1409700"/>
            <a:ext cx="15582900" cy="8761103"/>
          </a:xfrm>
          <a:prstGeom prst="rect">
            <a:avLst/>
          </a:prstGeom>
        </p:spPr>
      </p:pic>
      <p:sp>
        <p:nvSpPr>
          <p:cNvPr id="5" name="Google Shape;438;g2c3cba21922_0_400">
            <a:extLst>
              <a:ext uri="{FF2B5EF4-FFF2-40B4-BE49-F238E27FC236}">
                <a16:creationId xmlns:a16="http://schemas.microsoft.com/office/drawing/2014/main" id="{F6ABEFB7-7BF0-4A7D-B6FF-8AA9A4FA1485}"/>
              </a:ext>
            </a:extLst>
          </p:cNvPr>
          <p:cNvSpPr/>
          <p:nvPr/>
        </p:nvSpPr>
        <p:spPr>
          <a:xfrm>
            <a:off x="533400" y="476272"/>
            <a:ext cx="73152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 la </a:t>
            </a:r>
            <a:r>
              <a:rPr lang="en-US" sz="4000" dirty="0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durée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412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38;g2c3cba21922_0_400">
            <a:extLst>
              <a:ext uri="{FF2B5EF4-FFF2-40B4-BE49-F238E27FC236}">
                <a16:creationId xmlns:a16="http://schemas.microsoft.com/office/drawing/2014/main" id="{F6ABEFB7-7BF0-4A7D-B6FF-8AA9A4FA1485}"/>
              </a:ext>
            </a:extLst>
          </p:cNvPr>
          <p:cNvSpPr/>
          <p:nvPr/>
        </p:nvSpPr>
        <p:spPr>
          <a:xfrm>
            <a:off x="533400" y="628672"/>
            <a:ext cx="73152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 la </a:t>
            </a:r>
            <a:r>
              <a:rPr lang="en-US" sz="4000" dirty="0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durée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68195A-EE25-45EF-9AE2-A4907E954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37" y="3543300"/>
            <a:ext cx="1769693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6165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9030882-1BA0-4711-AE51-A4156A929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57800" y="-2247900"/>
            <a:ext cx="26283818" cy="14782800"/>
          </a:xfrm>
          <a:prstGeom prst="rect">
            <a:avLst/>
          </a:prstGeom>
        </p:spPr>
      </p:pic>
      <p:sp>
        <p:nvSpPr>
          <p:cNvPr id="71" name="Google Shape;71;g2c3cba21922_0_51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11A5E9E8-D46D-4234-A890-3CE645AE1720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15</a:t>
            </a:r>
          </a:p>
        </p:txBody>
      </p:sp>
      <p:sp>
        <p:nvSpPr>
          <p:cNvPr id="10" name="Google Shape;438;g2c3cba21922_0_400">
            <a:extLst>
              <a:ext uri="{FF2B5EF4-FFF2-40B4-BE49-F238E27FC236}">
                <a16:creationId xmlns:a16="http://schemas.microsoft.com/office/drawing/2014/main" id="{A05CED31-1443-4078-8C71-2A8226812CE2}"/>
              </a:ext>
            </a:extLst>
          </p:cNvPr>
          <p:cNvSpPr/>
          <p:nvPr/>
        </p:nvSpPr>
        <p:spPr>
          <a:xfrm>
            <a:off x="5029200" y="3543300"/>
            <a:ext cx="82296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0E0E0E"/>
              </a:buClr>
              <a:buSzPts val="4800"/>
            </a:pPr>
            <a:r>
              <a:rPr lang="en-US" sz="11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des </a:t>
            </a:r>
            <a:r>
              <a:rPr lang="en-US" sz="11000" dirty="0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coûts</a:t>
            </a:r>
            <a:endParaRPr sz="11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1298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c3cba21922_0_400"/>
          <p:cNvSpPr/>
          <p:nvPr/>
        </p:nvSpPr>
        <p:spPr>
          <a:xfrm>
            <a:off x="0" y="0"/>
            <a:ext cx="8867670" cy="102863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4" name="Google Shape;434;g2c3cba21922_0_400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6" name="Google Shape;436;g2c3cba21922_0_400"/>
          <p:cNvSpPr/>
          <p:nvPr/>
        </p:nvSpPr>
        <p:spPr>
          <a:xfrm>
            <a:off x="12658660" y="3019702"/>
            <a:ext cx="4286142" cy="198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8" name="Google Shape;438;g2c3cba21922_0_400"/>
          <p:cNvSpPr/>
          <p:nvPr/>
        </p:nvSpPr>
        <p:spPr>
          <a:xfrm>
            <a:off x="533400" y="476272"/>
            <a:ext cx="73152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des </a:t>
            </a:r>
            <a:r>
              <a:rPr lang="en-US" sz="4000" dirty="0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coûts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0E37048-BA0F-4ED7-82DD-E6CE2BA1E7B8}"/>
              </a:ext>
            </a:extLst>
          </p:cNvPr>
          <p:cNvSpPr txBox="1"/>
          <p:nvPr/>
        </p:nvSpPr>
        <p:spPr>
          <a:xfrm>
            <a:off x="22720631" y="12625558"/>
            <a:ext cx="1016100" cy="50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600" b="1" dirty="0">
                <a:latin typeface="DM Sans 14pt Medium" pitchFamily="2" charset="0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A8F8C6CF-ED64-4AB5-B41A-B9D2133DCCEE}"/>
              </a:ext>
            </a:extLst>
          </p:cNvPr>
          <p:cNvSpPr txBox="1"/>
          <p:nvPr/>
        </p:nvSpPr>
        <p:spPr>
          <a:xfrm>
            <a:off x="17144921" y="422240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16</a:t>
            </a:r>
          </a:p>
        </p:txBody>
      </p:sp>
      <p:sp>
        <p:nvSpPr>
          <p:cNvPr id="12" name="Google Shape;31;g2c3cba21922_0_10">
            <a:extLst>
              <a:ext uri="{FF2B5EF4-FFF2-40B4-BE49-F238E27FC236}">
                <a16:creationId xmlns:a16="http://schemas.microsoft.com/office/drawing/2014/main" id="{BEA037FD-CC04-46E0-BCB4-3E4BE5EBC0C1}"/>
              </a:ext>
            </a:extLst>
          </p:cNvPr>
          <p:cNvSpPr/>
          <p:nvPr/>
        </p:nvSpPr>
        <p:spPr>
          <a:xfrm>
            <a:off x="6136990" y="800100"/>
            <a:ext cx="601402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Budget Prévisionnel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ACA5D1-3132-4AC4-AD96-28F01F33E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790700"/>
            <a:ext cx="17373600" cy="840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066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9030882-1BA0-4711-AE51-A4156A929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57800" y="-2247900"/>
            <a:ext cx="26283818" cy="14782800"/>
          </a:xfrm>
          <a:prstGeom prst="rect">
            <a:avLst/>
          </a:prstGeom>
        </p:spPr>
      </p:pic>
      <p:sp>
        <p:nvSpPr>
          <p:cNvPr id="71" name="Google Shape;71;g2c3cba21922_0_51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11A5E9E8-D46D-4234-A890-3CE645AE1720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17</a:t>
            </a:r>
          </a:p>
        </p:txBody>
      </p:sp>
      <p:sp>
        <p:nvSpPr>
          <p:cNvPr id="10" name="Google Shape;438;g2c3cba21922_0_400">
            <a:extLst>
              <a:ext uri="{FF2B5EF4-FFF2-40B4-BE49-F238E27FC236}">
                <a16:creationId xmlns:a16="http://schemas.microsoft.com/office/drawing/2014/main" id="{A05CED31-1443-4078-8C71-2A8226812CE2}"/>
              </a:ext>
            </a:extLst>
          </p:cNvPr>
          <p:cNvSpPr/>
          <p:nvPr/>
        </p:nvSpPr>
        <p:spPr>
          <a:xfrm>
            <a:off x="5029200" y="3543300"/>
            <a:ext cx="82296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0E0E0E"/>
              </a:buClr>
              <a:buSzPts val="4800"/>
            </a:pPr>
            <a:r>
              <a:rPr lang="en-US" sz="11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 la </a:t>
            </a:r>
            <a:r>
              <a:rPr lang="en-US" sz="11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qualité</a:t>
            </a:r>
            <a:endParaRPr sz="11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3905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c3cba21922_0_400"/>
          <p:cNvSpPr/>
          <p:nvPr/>
        </p:nvSpPr>
        <p:spPr>
          <a:xfrm>
            <a:off x="0" y="0"/>
            <a:ext cx="8867670" cy="102863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4" name="Google Shape;434;g2c3cba21922_0_400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6" name="Google Shape;436;g2c3cba21922_0_400"/>
          <p:cNvSpPr/>
          <p:nvPr/>
        </p:nvSpPr>
        <p:spPr>
          <a:xfrm>
            <a:off x="12658660" y="3019702"/>
            <a:ext cx="4286142" cy="198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8" name="Google Shape;438;g2c3cba21922_0_400"/>
          <p:cNvSpPr/>
          <p:nvPr/>
        </p:nvSpPr>
        <p:spPr>
          <a:xfrm>
            <a:off x="533400" y="476272"/>
            <a:ext cx="73152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 la </a:t>
            </a:r>
            <a:r>
              <a:rPr lang="en-US" sz="4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qualité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0E37048-BA0F-4ED7-82DD-E6CE2BA1E7B8}"/>
              </a:ext>
            </a:extLst>
          </p:cNvPr>
          <p:cNvSpPr txBox="1"/>
          <p:nvPr/>
        </p:nvSpPr>
        <p:spPr>
          <a:xfrm>
            <a:off x="22720631" y="12625558"/>
            <a:ext cx="1016100" cy="50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600" b="1" dirty="0">
                <a:latin typeface="DM Sans 14pt Medium" pitchFamily="2" charset="0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A8F8C6CF-ED64-4AB5-B41A-B9D2133DCCEE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18</a:t>
            </a:r>
          </a:p>
        </p:txBody>
      </p:sp>
      <p:sp>
        <p:nvSpPr>
          <p:cNvPr id="12" name="Google Shape;31;g2c3cba21922_0_10">
            <a:extLst>
              <a:ext uri="{FF2B5EF4-FFF2-40B4-BE49-F238E27FC236}">
                <a16:creationId xmlns:a16="http://schemas.microsoft.com/office/drawing/2014/main" id="{BEA037FD-CC04-46E0-BCB4-3E4BE5EBC0C1}"/>
              </a:ext>
            </a:extLst>
          </p:cNvPr>
          <p:cNvSpPr/>
          <p:nvPr/>
        </p:nvSpPr>
        <p:spPr>
          <a:xfrm>
            <a:off x="4554395" y="1800513"/>
            <a:ext cx="917921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Niveau application : Qualité et sécurité des données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DE24D0-D8FD-48B9-9394-E53339FB3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906" y="3019702"/>
            <a:ext cx="9007528" cy="673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385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c3cba21922_0_400"/>
          <p:cNvSpPr/>
          <p:nvPr/>
        </p:nvSpPr>
        <p:spPr>
          <a:xfrm>
            <a:off x="0" y="0"/>
            <a:ext cx="8867670" cy="102863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4" name="Google Shape;434;g2c3cba21922_0_400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6" name="Google Shape;436;g2c3cba21922_0_400"/>
          <p:cNvSpPr/>
          <p:nvPr/>
        </p:nvSpPr>
        <p:spPr>
          <a:xfrm>
            <a:off x="12658660" y="3019702"/>
            <a:ext cx="4286142" cy="198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8" name="Google Shape;438;g2c3cba21922_0_400"/>
          <p:cNvSpPr/>
          <p:nvPr/>
        </p:nvSpPr>
        <p:spPr>
          <a:xfrm>
            <a:off x="533400" y="476272"/>
            <a:ext cx="73152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 la </a:t>
            </a:r>
            <a:r>
              <a:rPr lang="en-US" sz="4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qualité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0E37048-BA0F-4ED7-82DD-E6CE2BA1E7B8}"/>
              </a:ext>
            </a:extLst>
          </p:cNvPr>
          <p:cNvSpPr txBox="1"/>
          <p:nvPr/>
        </p:nvSpPr>
        <p:spPr>
          <a:xfrm>
            <a:off x="22720631" y="12625558"/>
            <a:ext cx="1016100" cy="50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600" b="1" dirty="0">
                <a:latin typeface="DM Sans 14pt Medium" pitchFamily="2" charset="0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A8F8C6CF-ED64-4AB5-B41A-B9D2133DCCEE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19</a:t>
            </a:r>
          </a:p>
        </p:txBody>
      </p:sp>
      <p:sp>
        <p:nvSpPr>
          <p:cNvPr id="12" name="Google Shape;31;g2c3cba21922_0_10">
            <a:extLst>
              <a:ext uri="{FF2B5EF4-FFF2-40B4-BE49-F238E27FC236}">
                <a16:creationId xmlns:a16="http://schemas.microsoft.com/office/drawing/2014/main" id="{BEA037FD-CC04-46E0-BCB4-3E4BE5EBC0C1}"/>
              </a:ext>
            </a:extLst>
          </p:cNvPr>
          <p:cNvSpPr/>
          <p:nvPr/>
        </p:nvSpPr>
        <p:spPr>
          <a:xfrm>
            <a:off x="4554395" y="1514128"/>
            <a:ext cx="917921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Niveau application : Qualité technique système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9B8FD9-6B90-4A71-B10C-A78CF06E9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212" y="2551985"/>
            <a:ext cx="8687576" cy="726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41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c3cba21922_0_400"/>
          <p:cNvSpPr/>
          <p:nvPr/>
        </p:nvSpPr>
        <p:spPr>
          <a:xfrm>
            <a:off x="0" y="0"/>
            <a:ext cx="8867670" cy="1028633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4" name="Google Shape;434;g2c3cba21922_0_400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6" name="Google Shape;436;g2c3cba21922_0_400"/>
          <p:cNvSpPr/>
          <p:nvPr/>
        </p:nvSpPr>
        <p:spPr>
          <a:xfrm>
            <a:off x="12658660" y="3019702"/>
            <a:ext cx="4286142" cy="198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8" name="Google Shape;438;g2c3cba21922_0_400"/>
          <p:cNvSpPr/>
          <p:nvPr/>
        </p:nvSpPr>
        <p:spPr>
          <a:xfrm>
            <a:off x="533400" y="476272"/>
            <a:ext cx="73152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 la </a:t>
            </a:r>
            <a:r>
              <a:rPr lang="en-US" sz="4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qualité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0E37048-BA0F-4ED7-82DD-E6CE2BA1E7B8}"/>
              </a:ext>
            </a:extLst>
          </p:cNvPr>
          <p:cNvSpPr txBox="1"/>
          <p:nvPr/>
        </p:nvSpPr>
        <p:spPr>
          <a:xfrm>
            <a:off x="22720631" y="12625558"/>
            <a:ext cx="1016100" cy="50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600" b="1" dirty="0">
                <a:latin typeface="DM Sans 14pt Medium" pitchFamily="2" charset="0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A8F8C6CF-ED64-4AB5-B41A-B9D2133DCCEE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20</a:t>
            </a:r>
          </a:p>
        </p:txBody>
      </p:sp>
      <p:sp>
        <p:nvSpPr>
          <p:cNvPr id="12" name="Google Shape;31;g2c3cba21922_0_10">
            <a:extLst>
              <a:ext uri="{FF2B5EF4-FFF2-40B4-BE49-F238E27FC236}">
                <a16:creationId xmlns:a16="http://schemas.microsoft.com/office/drawing/2014/main" id="{BEA037FD-CC04-46E0-BCB4-3E4BE5EBC0C1}"/>
              </a:ext>
            </a:extLst>
          </p:cNvPr>
          <p:cNvSpPr/>
          <p:nvPr/>
        </p:nvSpPr>
        <p:spPr>
          <a:xfrm>
            <a:off x="4554395" y="1514128"/>
            <a:ext cx="917921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Niveau livrable : Checklist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5897AD-7176-48A1-A81B-50F8988EA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382" y="2287536"/>
            <a:ext cx="8567235" cy="765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53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c3cba21922_0_400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8" name="Google Shape;438;g2c3cba21922_0_400"/>
          <p:cNvSpPr/>
          <p:nvPr/>
        </p:nvSpPr>
        <p:spPr>
          <a:xfrm>
            <a:off x="533400" y="476272"/>
            <a:ext cx="73152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 la </a:t>
            </a:r>
            <a:r>
              <a:rPr lang="en-US" sz="4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qualité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0E37048-BA0F-4ED7-82DD-E6CE2BA1E7B8}"/>
              </a:ext>
            </a:extLst>
          </p:cNvPr>
          <p:cNvSpPr txBox="1"/>
          <p:nvPr/>
        </p:nvSpPr>
        <p:spPr>
          <a:xfrm>
            <a:off x="22720631" y="12625558"/>
            <a:ext cx="1016100" cy="50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600" b="1" dirty="0">
                <a:latin typeface="DM Sans 14pt Medium" pitchFamily="2" charset="0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A8F8C6CF-ED64-4AB5-B41A-B9D2133DCCEE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21</a:t>
            </a:r>
          </a:p>
        </p:txBody>
      </p:sp>
      <p:sp>
        <p:nvSpPr>
          <p:cNvPr id="12" name="Google Shape;31;g2c3cba21922_0_10">
            <a:extLst>
              <a:ext uri="{FF2B5EF4-FFF2-40B4-BE49-F238E27FC236}">
                <a16:creationId xmlns:a16="http://schemas.microsoft.com/office/drawing/2014/main" id="{BEA037FD-CC04-46E0-BCB4-3E4BE5EBC0C1}"/>
              </a:ext>
            </a:extLst>
          </p:cNvPr>
          <p:cNvSpPr/>
          <p:nvPr/>
        </p:nvSpPr>
        <p:spPr>
          <a:xfrm>
            <a:off x="4554395" y="1514128"/>
            <a:ext cx="917921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Matrice de critère de validation par livrable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9A2720-6B4B-45E0-8D30-7A4958A43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372" y="2287536"/>
            <a:ext cx="7575255" cy="766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87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9030882-1BA0-4711-AE51-A4156A929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57800" y="-2247900"/>
            <a:ext cx="26283818" cy="14782800"/>
          </a:xfrm>
          <a:prstGeom prst="rect">
            <a:avLst/>
          </a:prstGeom>
        </p:spPr>
      </p:pic>
      <p:sp>
        <p:nvSpPr>
          <p:cNvPr id="71" name="Google Shape;71;g2c3cba21922_0_51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11A5E9E8-D46D-4234-A890-3CE645AE1720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22</a:t>
            </a:r>
          </a:p>
        </p:txBody>
      </p:sp>
      <p:sp>
        <p:nvSpPr>
          <p:cNvPr id="10" name="Google Shape;438;g2c3cba21922_0_400">
            <a:extLst>
              <a:ext uri="{FF2B5EF4-FFF2-40B4-BE49-F238E27FC236}">
                <a16:creationId xmlns:a16="http://schemas.microsoft.com/office/drawing/2014/main" id="{A05CED31-1443-4078-8C71-2A8226812CE2}"/>
              </a:ext>
            </a:extLst>
          </p:cNvPr>
          <p:cNvSpPr/>
          <p:nvPr/>
        </p:nvSpPr>
        <p:spPr>
          <a:xfrm>
            <a:off x="2514600" y="3467100"/>
            <a:ext cx="132588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0E0E0E"/>
              </a:buClr>
              <a:buSzPts val="4800"/>
            </a:pPr>
            <a:r>
              <a:rPr lang="en-US" sz="11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des </a:t>
            </a:r>
            <a:r>
              <a:rPr lang="en-US" sz="11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ressources</a:t>
            </a:r>
            <a:r>
              <a:rPr lang="en-US" sz="11000" dirty="0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11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humaines</a:t>
            </a:r>
            <a:endParaRPr sz="11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2074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c3cba21922_0_400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8" name="Google Shape;438;g2c3cba21922_0_400"/>
          <p:cNvSpPr/>
          <p:nvPr/>
        </p:nvSpPr>
        <p:spPr>
          <a:xfrm>
            <a:off x="533400" y="476272"/>
            <a:ext cx="83820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des </a:t>
            </a:r>
            <a:r>
              <a:rPr lang="en-US" sz="4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ressources</a:t>
            </a:r>
            <a:r>
              <a:rPr lang="en-US" sz="4000" dirty="0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4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humaines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0E37048-BA0F-4ED7-82DD-E6CE2BA1E7B8}"/>
              </a:ext>
            </a:extLst>
          </p:cNvPr>
          <p:cNvSpPr txBox="1"/>
          <p:nvPr/>
        </p:nvSpPr>
        <p:spPr>
          <a:xfrm>
            <a:off x="22720631" y="12625558"/>
            <a:ext cx="1016100" cy="50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600" b="1" dirty="0">
                <a:latin typeface="DM Sans 14pt Medium" pitchFamily="2" charset="0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A8F8C6CF-ED64-4AB5-B41A-B9D2133DCCEE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893A85-5E17-4D6D-801C-1635FA150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099" y="3279897"/>
            <a:ext cx="12557801" cy="5829300"/>
          </a:xfrm>
          <a:prstGeom prst="rect">
            <a:avLst/>
          </a:prstGeom>
        </p:spPr>
      </p:pic>
      <p:sp>
        <p:nvSpPr>
          <p:cNvPr id="13" name="Google Shape;31;g2c3cba21922_0_10">
            <a:extLst>
              <a:ext uri="{FF2B5EF4-FFF2-40B4-BE49-F238E27FC236}">
                <a16:creationId xmlns:a16="http://schemas.microsoft.com/office/drawing/2014/main" id="{BC187BEC-7089-47FD-AB63-0926177DA85E}"/>
              </a:ext>
            </a:extLst>
          </p:cNvPr>
          <p:cNvSpPr/>
          <p:nvPr/>
        </p:nvSpPr>
        <p:spPr>
          <a:xfrm>
            <a:off x="4554394" y="1900944"/>
            <a:ext cx="917921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Organigramme des ressources</a:t>
            </a:r>
          </a:p>
        </p:txBody>
      </p:sp>
    </p:spTree>
    <p:extLst>
      <p:ext uri="{BB962C8B-B14F-4D97-AF65-F5344CB8AC3E}">
        <p14:creationId xmlns:p14="http://schemas.microsoft.com/office/powerpoint/2010/main" val="3796688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c3cba21922_0_400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8" name="Google Shape;438;g2c3cba21922_0_400"/>
          <p:cNvSpPr/>
          <p:nvPr/>
        </p:nvSpPr>
        <p:spPr>
          <a:xfrm>
            <a:off x="533400" y="476272"/>
            <a:ext cx="83820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des </a:t>
            </a:r>
            <a:r>
              <a:rPr lang="en-US" sz="4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ressources</a:t>
            </a:r>
            <a:r>
              <a:rPr lang="en-US" sz="4000" dirty="0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4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humaines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0E37048-BA0F-4ED7-82DD-E6CE2BA1E7B8}"/>
              </a:ext>
            </a:extLst>
          </p:cNvPr>
          <p:cNvSpPr txBox="1"/>
          <p:nvPr/>
        </p:nvSpPr>
        <p:spPr>
          <a:xfrm>
            <a:off x="22720631" y="12625558"/>
            <a:ext cx="1016100" cy="50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600" b="1" dirty="0">
                <a:latin typeface="DM Sans 14pt Medium" pitchFamily="2" charset="0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13" name="Google Shape;31;g2c3cba21922_0_10">
            <a:extLst>
              <a:ext uri="{FF2B5EF4-FFF2-40B4-BE49-F238E27FC236}">
                <a16:creationId xmlns:a16="http://schemas.microsoft.com/office/drawing/2014/main" id="{BC187BEC-7089-47FD-AB63-0926177DA85E}"/>
              </a:ext>
            </a:extLst>
          </p:cNvPr>
          <p:cNvSpPr/>
          <p:nvPr/>
        </p:nvSpPr>
        <p:spPr>
          <a:xfrm>
            <a:off x="4554394" y="1900944"/>
            <a:ext cx="917921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Matrice RACI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2B70F1-B245-4737-903A-4F8D7FF9E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659112"/>
            <a:ext cx="17889728" cy="7399271"/>
          </a:xfrm>
          <a:prstGeom prst="rect">
            <a:avLst/>
          </a:prstGeom>
        </p:spPr>
      </p:pic>
      <p:sp>
        <p:nvSpPr>
          <p:cNvPr id="11" name="TextBox 15">
            <a:extLst>
              <a:ext uri="{FF2B5EF4-FFF2-40B4-BE49-F238E27FC236}">
                <a16:creationId xmlns:a16="http://schemas.microsoft.com/office/drawing/2014/main" id="{A8F8C6CF-ED64-4AB5-B41A-B9D2133DCCEE}"/>
              </a:ext>
            </a:extLst>
          </p:cNvPr>
          <p:cNvSpPr txBox="1"/>
          <p:nvPr/>
        </p:nvSpPr>
        <p:spPr>
          <a:xfrm>
            <a:off x="17106821" y="9334500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762981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9030882-1BA0-4711-AE51-A4156A929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57800" y="-2247900"/>
            <a:ext cx="26283818" cy="14782800"/>
          </a:xfrm>
          <a:prstGeom prst="rect">
            <a:avLst/>
          </a:prstGeom>
        </p:spPr>
      </p:pic>
      <p:sp>
        <p:nvSpPr>
          <p:cNvPr id="71" name="Google Shape;71;g2c3cba21922_0_51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11A5E9E8-D46D-4234-A890-3CE645AE1720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25</a:t>
            </a:r>
          </a:p>
        </p:txBody>
      </p:sp>
      <p:sp>
        <p:nvSpPr>
          <p:cNvPr id="10" name="Google Shape;438;g2c3cba21922_0_400">
            <a:extLst>
              <a:ext uri="{FF2B5EF4-FFF2-40B4-BE49-F238E27FC236}">
                <a16:creationId xmlns:a16="http://schemas.microsoft.com/office/drawing/2014/main" id="{A05CED31-1443-4078-8C71-2A8226812CE2}"/>
              </a:ext>
            </a:extLst>
          </p:cNvPr>
          <p:cNvSpPr/>
          <p:nvPr/>
        </p:nvSpPr>
        <p:spPr>
          <a:xfrm>
            <a:off x="2514600" y="3467100"/>
            <a:ext cx="132588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0E0E0E"/>
              </a:buClr>
              <a:buSzPts val="4800"/>
            </a:pPr>
            <a:r>
              <a:rPr lang="en-US" sz="11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des </a:t>
            </a:r>
            <a:r>
              <a:rPr lang="en-US" sz="11000" dirty="0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communications</a:t>
            </a:r>
            <a:endParaRPr sz="11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4942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c3cba21922_0_400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8" name="Google Shape;438;g2c3cba21922_0_400"/>
          <p:cNvSpPr/>
          <p:nvPr/>
        </p:nvSpPr>
        <p:spPr>
          <a:xfrm>
            <a:off x="533400" y="476272"/>
            <a:ext cx="83820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des </a:t>
            </a:r>
            <a:r>
              <a:rPr lang="en-US" sz="4000" dirty="0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communications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0E37048-BA0F-4ED7-82DD-E6CE2BA1E7B8}"/>
              </a:ext>
            </a:extLst>
          </p:cNvPr>
          <p:cNvSpPr txBox="1"/>
          <p:nvPr/>
        </p:nvSpPr>
        <p:spPr>
          <a:xfrm>
            <a:off x="22720631" y="12625558"/>
            <a:ext cx="1016100" cy="50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600" b="1" dirty="0">
                <a:latin typeface="DM Sans 14pt Medium" pitchFamily="2" charset="0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A8F8C6CF-ED64-4AB5-B41A-B9D2133DCCEE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26</a:t>
            </a:r>
          </a:p>
        </p:txBody>
      </p:sp>
      <p:sp>
        <p:nvSpPr>
          <p:cNvPr id="13" name="Google Shape;31;g2c3cba21922_0_10">
            <a:extLst>
              <a:ext uri="{FF2B5EF4-FFF2-40B4-BE49-F238E27FC236}">
                <a16:creationId xmlns:a16="http://schemas.microsoft.com/office/drawing/2014/main" id="{BC187BEC-7089-47FD-AB63-0926177DA85E}"/>
              </a:ext>
            </a:extLst>
          </p:cNvPr>
          <p:cNvSpPr/>
          <p:nvPr/>
        </p:nvSpPr>
        <p:spPr>
          <a:xfrm>
            <a:off x="4554393" y="2381683"/>
            <a:ext cx="917921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Matrice des communications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A40099-360D-4189-B4AF-4195DCC18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89" y="4287094"/>
            <a:ext cx="17850219" cy="391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633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9030882-1BA0-4711-AE51-A4156A929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57800" y="-2247900"/>
            <a:ext cx="26283818" cy="14782800"/>
          </a:xfrm>
          <a:prstGeom prst="rect">
            <a:avLst/>
          </a:prstGeom>
        </p:spPr>
      </p:pic>
      <p:sp>
        <p:nvSpPr>
          <p:cNvPr id="71" name="Google Shape;71;g2c3cba21922_0_51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11A5E9E8-D46D-4234-A890-3CE645AE1720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27</a:t>
            </a:r>
          </a:p>
        </p:txBody>
      </p:sp>
      <p:sp>
        <p:nvSpPr>
          <p:cNvPr id="10" name="Google Shape;438;g2c3cba21922_0_400">
            <a:extLst>
              <a:ext uri="{FF2B5EF4-FFF2-40B4-BE49-F238E27FC236}">
                <a16:creationId xmlns:a16="http://schemas.microsoft.com/office/drawing/2014/main" id="{A05CED31-1443-4078-8C71-2A8226812CE2}"/>
              </a:ext>
            </a:extLst>
          </p:cNvPr>
          <p:cNvSpPr/>
          <p:nvPr/>
        </p:nvSpPr>
        <p:spPr>
          <a:xfrm>
            <a:off x="2514600" y="3467100"/>
            <a:ext cx="132588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0E0E0E"/>
              </a:buClr>
              <a:buSzPts val="4800"/>
            </a:pPr>
            <a:r>
              <a:rPr lang="en-US" sz="11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des </a:t>
            </a:r>
            <a:r>
              <a:rPr lang="en-US" sz="11000" dirty="0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parties </a:t>
            </a:r>
            <a:r>
              <a:rPr lang="en-US" sz="11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prenantes</a:t>
            </a:r>
            <a:endParaRPr sz="11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3632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c3cba21922_0_400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8" name="Google Shape;438;g2c3cba21922_0_400"/>
          <p:cNvSpPr/>
          <p:nvPr/>
        </p:nvSpPr>
        <p:spPr>
          <a:xfrm>
            <a:off x="533400" y="476272"/>
            <a:ext cx="83820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des </a:t>
            </a:r>
            <a:r>
              <a:rPr lang="en-US" sz="4000" dirty="0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parties </a:t>
            </a:r>
            <a:r>
              <a:rPr lang="en-US" sz="4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prenantes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0E37048-BA0F-4ED7-82DD-E6CE2BA1E7B8}"/>
              </a:ext>
            </a:extLst>
          </p:cNvPr>
          <p:cNvSpPr txBox="1"/>
          <p:nvPr/>
        </p:nvSpPr>
        <p:spPr>
          <a:xfrm>
            <a:off x="22720631" y="12625558"/>
            <a:ext cx="1016100" cy="50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600" b="1" dirty="0">
                <a:latin typeface="DM Sans 14pt Medium" pitchFamily="2" charset="0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A8F8C6CF-ED64-4AB5-B41A-B9D2133DCCEE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28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373FEB-6F38-4C30-8ABC-1001AB6D4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032" y="2776675"/>
            <a:ext cx="14705936" cy="6858000"/>
          </a:xfrm>
          <a:prstGeom prst="rect">
            <a:avLst/>
          </a:prstGeom>
        </p:spPr>
      </p:pic>
      <p:sp>
        <p:nvSpPr>
          <p:cNvPr id="12" name="Google Shape;31;g2c3cba21922_0_10">
            <a:extLst>
              <a:ext uri="{FF2B5EF4-FFF2-40B4-BE49-F238E27FC236}">
                <a16:creationId xmlns:a16="http://schemas.microsoft.com/office/drawing/2014/main" id="{FD6AC8C3-212A-4413-A99F-2F778B978EEB}"/>
              </a:ext>
            </a:extLst>
          </p:cNvPr>
          <p:cNvSpPr/>
          <p:nvPr/>
        </p:nvSpPr>
        <p:spPr>
          <a:xfrm>
            <a:off x="4554395" y="1866900"/>
            <a:ext cx="917921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Parties prenantes</a:t>
            </a:r>
          </a:p>
        </p:txBody>
      </p:sp>
    </p:spTree>
    <p:extLst>
      <p:ext uri="{BB962C8B-B14F-4D97-AF65-F5344CB8AC3E}">
        <p14:creationId xmlns:p14="http://schemas.microsoft.com/office/powerpoint/2010/main" val="3348440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c3cba21922_0_400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8" name="Google Shape;438;g2c3cba21922_0_400"/>
          <p:cNvSpPr/>
          <p:nvPr/>
        </p:nvSpPr>
        <p:spPr>
          <a:xfrm>
            <a:off x="533400" y="476272"/>
            <a:ext cx="83820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des </a:t>
            </a:r>
            <a:r>
              <a:rPr lang="en-US" sz="4000" dirty="0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parties </a:t>
            </a:r>
            <a:r>
              <a:rPr lang="en-US" sz="4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prenantes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0E37048-BA0F-4ED7-82DD-E6CE2BA1E7B8}"/>
              </a:ext>
            </a:extLst>
          </p:cNvPr>
          <p:cNvSpPr txBox="1"/>
          <p:nvPr/>
        </p:nvSpPr>
        <p:spPr>
          <a:xfrm>
            <a:off x="22720631" y="12625558"/>
            <a:ext cx="1016100" cy="50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600" b="1" dirty="0">
                <a:latin typeface="DM Sans 14pt Medium" pitchFamily="2" charset="0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A8F8C6CF-ED64-4AB5-B41A-B9D2133DCCEE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28</a:t>
            </a:r>
          </a:p>
        </p:txBody>
      </p:sp>
      <p:sp>
        <p:nvSpPr>
          <p:cNvPr id="12" name="Google Shape;31;g2c3cba21922_0_10">
            <a:extLst>
              <a:ext uri="{FF2B5EF4-FFF2-40B4-BE49-F238E27FC236}">
                <a16:creationId xmlns:a16="http://schemas.microsoft.com/office/drawing/2014/main" id="{FD6AC8C3-212A-4413-A99F-2F778B978EEB}"/>
              </a:ext>
            </a:extLst>
          </p:cNvPr>
          <p:cNvSpPr/>
          <p:nvPr/>
        </p:nvSpPr>
        <p:spPr>
          <a:xfrm>
            <a:off x="4572186" y="2353231"/>
            <a:ext cx="917921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Matrice Influence x </a:t>
            </a:r>
            <a:r>
              <a:rPr lang="fr-FR" sz="2800" dirty="0" err="1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Intéret</a:t>
            </a:r>
            <a:endParaRPr lang="fr-FR" sz="2800" dirty="0">
              <a:solidFill>
                <a:srgbClr val="0E0E0E"/>
              </a:solidFill>
              <a:latin typeface="DM Sans 14pt Medium" pitchFamily="2" charset="0"/>
              <a:ea typeface="DM Sans"/>
              <a:cs typeface="DM Sans"/>
              <a:sym typeface="DM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644386-1016-466A-BEFF-D27A6E375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7" y="4230190"/>
            <a:ext cx="18252188" cy="325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66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9030882-1BA0-4711-AE51-A4156A929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57800" y="-2247900"/>
            <a:ext cx="26283818" cy="14782800"/>
          </a:xfrm>
          <a:prstGeom prst="rect">
            <a:avLst/>
          </a:prstGeom>
        </p:spPr>
      </p:pic>
      <p:sp>
        <p:nvSpPr>
          <p:cNvPr id="71" name="Google Shape;71;g2c3cba21922_0_51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11A5E9E8-D46D-4234-A890-3CE645AE1720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29</a:t>
            </a:r>
          </a:p>
        </p:txBody>
      </p:sp>
      <p:sp>
        <p:nvSpPr>
          <p:cNvPr id="10" name="Google Shape;438;g2c3cba21922_0_400">
            <a:extLst>
              <a:ext uri="{FF2B5EF4-FFF2-40B4-BE49-F238E27FC236}">
                <a16:creationId xmlns:a16="http://schemas.microsoft.com/office/drawing/2014/main" id="{A05CED31-1443-4078-8C71-2A8226812CE2}"/>
              </a:ext>
            </a:extLst>
          </p:cNvPr>
          <p:cNvSpPr/>
          <p:nvPr/>
        </p:nvSpPr>
        <p:spPr>
          <a:xfrm>
            <a:off x="2514600" y="4057672"/>
            <a:ext cx="132588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0E0E0E"/>
              </a:buClr>
              <a:buSzPts val="4800"/>
            </a:pPr>
            <a:r>
              <a:rPr lang="en-US" sz="11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des </a:t>
            </a:r>
            <a:r>
              <a:rPr lang="en-US" sz="11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risques</a:t>
            </a:r>
            <a:endParaRPr sz="11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5407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c3cba21922_0_400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8" name="Google Shape;438;g2c3cba21922_0_400"/>
          <p:cNvSpPr/>
          <p:nvPr/>
        </p:nvSpPr>
        <p:spPr>
          <a:xfrm>
            <a:off x="533400" y="476272"/>
            <a:ext cx="83820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des </a:t>
            </a:r>
            <a:r>
              <a:rPr lang="en-US" sz="4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risques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0E37048-BA0F-4ED7-82DD-E6CE2BA1E7B8}"/>
              </a:ext>
            </a:extLst>
          </p:cNvPr>
          <p:cNvSpPr txBox="1"/>
          <p:nvPr/>
        </p:nvSpPr>
        <p:spPr>
          <a:xfrm>
            <a:off x="22720631" y="12625558"/>
            <a:ext cx="1016100" cy="50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600" b="1" dirty="0">
                <a:latin typeface="DM Sans 14pt Medium" pitchFamily="2" charset="0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A8F8C6CF-ED64-4AB5-B41A-B9D2133DCCEE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30</a:t>
            </a:r>
          </a:p>
        </p:txBody>
      </p:sp>
      <p:sp>
        <p:nvSpPr>
          <p:cNvPr id="12" name="Google Shape;31;g2c3cba21922_0_10">
            <a:extLst>
              <a:ext uri="{FF2B5EF4-FFF2-40B4-BE49-F238E27FC236}">
                <a16:creationId xmlns:a16="http://schemas.microsoft.com/office/drawing/2014/main" id="{FD6AC8C3-212A-4413-A99F-2F778B978EEB}"/>
              </a:ext>
            </a:extLst>
          </p:cNvPr>
          <p:cNvSpPr/>
          <p:nvPr/>
        </p:nvSpPr>
        <p:spPr>
          <a:xfrm>
            <a:off x="4554395" y="1866900"/>
            <a:ext cx="917921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Registre des risques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757B08-0E03-46F2-A5DA-D213D64F2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3465445"/>
            <a:ext cx="18135600" cy="442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0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c3cba21922_0_400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8" name="Google Shape;438;g2c3cba21922_0_400"/>
          <p:cNvSpPr/>
          <p:nvPr/>
        </p:nvSpPr>
        <p:spPr>
          <a:xfrm>
            <a:off x="533400" y="476272"/>
            <a:ext cx="83820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des </a:t>
            </a:r>
            <a:r>
              <a:rPr lang="en-US" sz="4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risques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0E37048-BA0F-4ED7-82DD-E6CE2BA1E7B8}"/>
              </a:ext>
            </a:extLst>
          </p:cNvPr>
          <p:cNvSpPr txBox="1"/>
          <p:nvPr/>
        </p:nvSpPr>
        <p:spPr>
          <a:xfrm>
            <a:off x="22720631" y="12625558"/>
            <a:ext cx="1016100" cy="50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600" b="1" dirty="0">
                <a:latin typeface="DM Sans 14pt Medium" pitchFamily="2" charset="0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A8F8C6CF-ED64-4AB5-B41A-B9D2133DCCEE}"/>
              </a:ext>
            </a:extLst>
          </p:cNvPr>
          <p:cNvSpPr txBox="1"/>
          <p:nvPr/>
        </p:nvSpPr>
        <p:spPr>
          <a:xfrm>
            <a:off x="17038255" y="9468605"/>
            <a:ext cx="761976" cy="381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31</a:t>
            </a:r>
          </a:p>
        </p:txBody>
      </p:sp>
      <p:sp>
        <p:nvSpPr>
          <p:cNvPr id="12" name="Google Shape;31;g2c3cba21922_0_10">
            <a:extLst>
              <a:ext uri="{FF2B5EF4-FFF2-40B4-BE49-F238E27FC236}">
                <a16:creationId xmlns:a16="http://schemas.microsoft.com/office/drawing/2014/main" id="{FD6AC8C3-212A-4413-A99F-2F778B978EEB}"/>
              </a:ext>
            </a:extLst>
          </p:cNvPr>
          <p:cNvSpPr/>
          <p:nvPr/>
        </p:nvSpPr>
        <p:spPr>
          <a:xfrm>
            <a:off x="4554395" y="2341801"/>
            <a:ext cx="917921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Matrice des risques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D61E44-05B5-470C-B959-7158BFCF2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98" y="4028459"/>
            <a:ext cx="16738804" cy="386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62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9030882-1BA0-4711-AE51-A4156A929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57800" y="-2247900"/>
            <a:ext cx="26283818" cy="14782800"/>
          </a:xfrm>
          <a:prstGeom prst="rect">
            <a:avLst/>
          </a:prstGeom>
        </p:spPr>
      </p:pic>
      <p:sp>
        <p:nvSpPr>
          <p:cNvPr id="71" name="Google Shape;71;g2c3cba21922_0_51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11A5E9E8-D46D-4234-A890-3CE645AE1720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32</a:t>
            </a:r>
          </a:p>
        </p:txBody>
      </p:sp>
      <p:sp>
        <p:nvSpPr>
          <p:cNvPr id="10" name="Google Shape;438;g2c3cba21922_0_400">
            <a:extLst>
              <a:ext uri="{FF2B5EF4-FFF2-40B4-BE49-F238E27FC236}">
                <a16:creationId xmlns:a16="http://schemas.microsoft.com/office/drawing/2014/main" id="{A05CED31-1443-4078-8C71-2A8226812CE2}"/>
              </a:ext>
            </a:extLst>
          </p:cNvPr>
          <p:cNvSpPr/>
          <p:nvPr/>
        </p:nvSpPr>
        <p:spPr>
          <a:xfrm>
            <a:off x="2514600" y="3543300"/>
            <a:ext cx="132588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0E0E0E"/>
              </a:buClr>
              <a:buSzPts val="4800"/>
            </a:pPr>
            <a:r>
              <a:rPr lang="en-US" sz="11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 </a:t>
            </a:r>
            <a:r>
              <a:rPr lang="en-US" sz="11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l’approvisionnement</a:t>
            </a:r>
            <a:endParaRPr sz="11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5111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c3cba21922_0_400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8" name="Google Shape;438;g2c3cba21922_0_400"/>
          <p:cNvSpPr/>
          <p:nvPr/>
        </p:nvSpPr>
        <p:spPr>
          <a:xfrm>
            <a:off x="533400" y="476272"/>
            <a:ext cx="83820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 </a:t>
            </a:r>
            <a:r>
              <a:rPr lang="en-US" sz="4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l’approvisionnement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0E37048-BA0F-4ED7-82DD-E6CE2BA1E7B8}"/>
              </a:ext>
            </a:extLst>
          </p:cNvPr>
          <p:cNvSpPr txBox="1"/>
          <p:nvPr/>
        </p:nvSpPr>
        <p:spPr>
          <a:xfrm>
            <a:off x="22720631" y="12625558"/>
            <a:ext cx="1016100" cy="50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600" b="1" dirty="0">
                <a:latin typeface="DM Sans 14pt Medium" pitchFamily="2" charset="0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A8F8C6CF-ED64-4AB5-B41A-B9D2133DCCEE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33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E2D930-CBD9-4C5F-A6BE-ABEC54DF7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054" y="1640663"/>
            <a:ext cx="11581891" cy="813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26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9030882-1BA0-4711-AE51-A4156A929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57800" y="-2247900"/>
            <a:ext cx="26283818" cy="14782800"/>
          </a:xfrm>
          <a:prstGeom prst="rect">
            <a:avLst/>
          </a:prstGeom>
        </p:spPr>
      </p:pic>
      <p:sp>
        <p:nvSpPr>
          <p:cNvPr id="71" name="Google Shape;71;g2c3cba21922_0_51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11A5E9E8-D46D-4234-A890-3CE645AE1720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34</a:t>
            </a:r>
          </a:p>
        </p:txBody>
      </p:sp>
      <p:sp>
        <p:nvSpPr>
          <p:cNvPr id="10" name="Google Shape;438;g2c3cba21922_0_400">
            <a:extLst>
              <a:ext uri="{FF2B5EF4-FFF2-40B4-BE49-F238E27FC236}">
                <a16:creationId xmlns:a16="http://schemas.microsoft.com/office/drawing/2014/main" id="{A05CED31-1443-4078-8C71-2A8226812CE2}"/>
              </a:ext>
            </a:extLst>
          </p:cNvPr>
          <p:cNvSpPr/>
          <p:nvPr/>
        </p:nvSpPr>
        <p:spPr>
          <a:xfrm>
            <a:off x="2514600" y="3543300"/>
            <a:ext cx="132588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0E0E0E"/>
              </a:buClr>
              <a:buSzPts val="4800"/>
            </a:pPr>
            <a:r>
              <a:rPr lang="en-US" sz="11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du </a:t>
            </a:r>
            <a:r>
              <a:rPr lang="en-US" sz="11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changement</a:t>
            </a:r>
            <a:r>
              <a:rPr lang="en-US" sz="11000" dirty="0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endParaRPr sz="11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0172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c3cba21922_0_400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8" name="Google Shape;438;g2c3cba21922_0_400"/>
          <p:cNvSpPr/>
          <p:nvPr/>
        </p:nvSpPr>
        <p:spPr>
          <a:xfrm>
            <a:off x="533400" y="476272"/>
            <a:ext cx="83820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du </a:t>
            </a:r>
            <a:r>
              <a:rPr lang="en-US" sz="4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changement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0E37048-BA0F-4ED7-82DD-E6CE2BA1E7B8}"/>
              </a:ext>
            </a:extLst>
          </p:cNvPr>
          <p:cNvSpPr txBox="1"/>
          <p:nvPr/>
        </p:nvSpPr>
        <p:spPr>
          <a:xfrm>
            <a:off x="22720631" y="12625558"/>
            <a:ext cx="1016100" cy="50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600" b="1" dirty="0">
                <a:latin typeface="DM Sans 14pt Medium" pitchFamily="2" charset="0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A8F8C6CF-ED64-4AB5-B41A-B9D2133DCCEE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35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745380-35C1-43B6-AF36-40A596CB2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066" y="1624690"/>
            <a:ext cx="12655867" cy="824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703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9030882-1BA0-4711-AE51-A4156A929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334000" y="-2247900"/>
            <a:ext cx="26283818" cy="14782800"/>
          </a:xfrm>
          <a:prstGeom prst="rect">
            <a:avLst/>
          </a:prstGeom>
        </p:spPr>
      </p:pic>
      <p:sp>
        <p:nvSpPr>
          <p:cNvPr id="71" name="Google Shape;71;g2c3cba21922_0_51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11A5E9E8-D46D-4234-A890-3CE645AE1720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36</a:t>
            </a:r>
          </a:p>
        </p:txBody>
      </p:sp>
      <p:sp>
        <p:nvSpPr>
          <p:cNvPr id="10" name="Google Shape;438;g2c3cba21922_0_400">
            <a:extLst>
              <a:ext uri="{FF2B5EF4-FFF2-40B4-BE49-F238E27FC236}">
                <a16:creationId xmlns:a16="http://schemas.microsoft.com/office/drawing/2014/main" id="{A05CED31-1443-4078-8C71-2A8226812CE2}"/>
              </a:ext>
            </a:extLst>
          </p:cNvPr>
          <p:cNvSpPr/>
          <p:nvPr/>
        </p:nvSpPr>
        <p:spPr>
          <a:xfrm>
            <a:off x="2514600" y="3543300"/>
            <a:ext cx="132588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0E0E0E"/>
              </a:buClr>
              <a:buSzPts val="4800"/>
            </a:pPr>
            <a:r>
              <a:rPr lang="en-US" sz="11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 </a:t>
            </a:r>
            <a:r>
              <a:rPr lang="en-US" sz="11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l’intégration</a:t>
            </a:r>
            <a:endParaRPr sz="11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1214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c3cba21922_0_400"/>
          <p:cNvSpPr/>
          <p:nvPr/>
        </p:nvSpPr>
        <p:spPr>
          <a:xfrm>
            <a:off x="17525909" y="7886343"/>
            <a:ext cx="761976" cy="2399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0" tIns="68560" rIns="68560" bIns="68560" anchor="ctr" anchorCtr="0">
            <a:noAutofit/>
          </a:bodyPr>
          <a:lstStyle/>
          <a:p>
            <a:endParaRPr sz="1350"/>
          </a:p>
        </p:txBody>
      </p:sp>
      <p:sp>
        <p:nvSpPr>
          <p:cNvPr id="438" name="Google Shape;438;g2c3cba21922_0_400"/>
          <p:cNvSpPr/>
          <p:nvPr/>
        </p:nvSpPr>
        <p:spPr>
          <a:xfrm>
            <a:off x="533400" y="476272"/>
            <a:ext cx="8382000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E0E0E"/>
              </a:buClr>
              <a:buSzPts val="4800"/>
            </a:pPr>
            <a:r>
              <a:rPr lang="en-US" sz="4000" dirty="0">
                <a:solidFill>
                  <a:srgbClr val="0E0E0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Gestion de </a:t>
            </a:r>
            <a:r>
              <a:rPr lang="en-US" sz="4000" dirty="0" err="1">
                <a:solidFill>
                  <a:srgbClr val="FF762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l’intégration</a:t>
            </a:r>
            <a:endParaRPr sz="4000" dirty="0">
              <a:solidFill>
                <a:srgbClr val="FF7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0E37048-BA0F-4ED7-82DD-E6CE2BA1E7B8}"/>
              </a:ext>
            </a:extLst>
          </p:cNvPr>
          <p:cNvSpPr txBox="1"/>
          <p:nvPr/>
        </p:nvSpPr>
        <p:spPr>
          <a:xfrm>
            <a:off x="22720631" y="12625558"/>
            <a:ext cx="1016100" cy="506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600" b="1" dirty="0">
                <a:latin typeface="DM Sans 14pt Medium" pitchFamily="2" charset="0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A8F8C6CF-ED64-4AB5-B41A-B9D2133DCCEE}"/>
              </a:ext>
            </a:extLst>
          </p:cNvPr>
          <p:cNvSpPr txBox="1"/>
          <p:nvPr/>
        </p:nvSpPr>
        <p:spPr>
          <a:xfrm>
            <a:off x="17038255" y="9468605"/>
            <a:ext cx="761976" cy="377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800" b="1" dirty="0">
                <a:latin typeface="DM Sans 14pt Medium" pitchFamily="2" charset="0"/>
                <a:ea typeface="Lato"/>
                <a:cs typeface="Lato"/>
                <a:sym typeface="Lato"/>
              </a:rPr>
              <a:t>37</a:t>
            </a:r>
          </a:p>
        </p:txBody>
      </p:sp>
      <p:sp>
        <p:nvSpPr>
          <p:cNvPr id="12" name="Google Shape;31;g2c3cba21922_0_10">
            <a:extLst>
              <a:ext uri="{FF2B5EF4-FFF2-40B4-BE49-F238E27FC236}">
                <a16:creationId xmlns:a16="http://schemas.microsoft.com/office/drawing/2014/main" id="{775193B3-7CAC-4B90-94D7-97B5567D344E}"/>
              </a:ext>
            </a:extLst>
          </p:cNvPr>
          <p:cNvSpPr/>
          <p:nvPr/>
        </p:nvSpPr>
        <p:spPr>
          <a:xfrm>
            <a:off x="4144096" y="2171700"/>
            <a:ext cx="9999805" cy="7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Tableau de bord de pilotage – </a:t>
            </a:r>
            <a:r>
              <a:rPr lang="fr-FR" sz="2800" dirty="0" err="1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Coherence</a:t>
            </a:r>
            <a:r>
              <a:rPr lang="fr-FR" sz="2800" dirty="0">
                <a:solidFill>
                  <a:srgbClr val="0E0E0E"/>
                </a:solidFill>
                <a:latin typeface="DM Sans 14pt Medium" pitchFamily="2" charset="0"/>
                <a:ea typeface="DM Sans"/>
                <a:cs typeface="DM Sans"/>
                <a:sym typeface="DM Sans"/>
              </a:rPr>
              <a:t> des sections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D1B259-E9A8-4DEA-80B8-00FD65749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339" y="3086100"/>
            <a:ext cx="9187320" cy="693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871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348" y="514350"/>
            <a:ext cx="17259300" cy="9258300"/>
            <a:chOff x="0" y="0"/>
            <a:chExt cx="5905866" cy="31680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05866" cy="3168047"/>
            </a:xfrm>
            <a:custGeom>
              <a:avLst/>
              <a:gdLst/>
              <a:ahLst/>
              <a:cxnLst/>
              <a:rect l="l" t="t" r="r" b="b"/>
              <a:pathLst>
                <a:path w="5905866" h="3168047">
                  <a:moveTo>
                    <a:pt x="0" y="0"/>
                  </a:moveTo>
                  <a:lnTo>
                    <a:pt x="5905866" y="0"/>
                  </a:lnTo>
                  <a:lnTo>
                    <a:pt x="5905866" y="3168047"/>
                  </a:lnTo>
                  <a:lnTo>
                    <a:pt x="0" y="3168047"/>
                  </a:lnTo>
                  <a:close/>
                </a:path>
              </a:pathLst>
            </a:custGeom>
            <a:solidFill>
              <a:srgbClr val="EBE2D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05866" cy="3206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187986" y="4227768"/>
            <a:ext cx="11912023" cy="18314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996"/>
              </a:lnSpc>
            </a:pPr>
            <a:r>
              <a:rPr lang="en-US" sz="10711" dirty="0">
                <a:solidFill>
                  <a:srgbClr val="000000"/>
                </a:solidFill>
                <a:latin typeface="DM Serif Display" pitchFamily="2" charset="0"/>
                <a:ea typeface="Roboto Bold"/>
                <a:cs typeface="Roboto Bold"/>
                <a:sym typeface="Roboto Bold"/>
              </a:rPr>
              <a:t>Conclusion</a:t>
            </a:r>
            <a:endParaRPr lang="en-US" sz="10711" b="1" spc="-353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</p:spTree>
    <p:extLst>
      <p:ext uri="{BB962C8B-B14F-4D97-AF65-F5344CB8AC3E}">
        <p14:creationId xmlns:p14="http://schemas.microsoft.com/office/powerpoint/2010/main" val="482214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348" y="514350"/>
            <a:ext cx="17259300" cy="9258300"/>
            <a:chOff x="0" y="0"/>
            <a:chExt cx="5905866" cy="31680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05866" cy="3168047"/>
            </a:xfrm>
            <a:custGeom>
              <a:avLst/>
              <a:gdLst/>
              <a:ahLst/>
              <a:cxnLst/>
              <a:rect l="l" t="t" r="r" b="b"/>
              <a:pathLst>
                <a:path w="5905866" h="3168047">
                  <a:moveTo>
                    <a:pt x="0" y="0"/>
                  </a:moveTo>
                  <a:lnTo>
                    <a:pt x="5905866" y="0"/>
                  </a:lnTo>
                  <a:lnTo>
                    <a:pt x="5905866" y="3168047"/>
                  </a:lnTo>
                  <a:lnTo>
                    <a:pt x="0" y="3168047"/>
                  </a:lnTo>
                  <a:close/>
                </a:path>
              </a:pathLst>
            </a:custGeom>
            <a:solidFill>
              <a:srgbClr val="EBE2D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05866" cy="3206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187985" y="3009900"/>
            <a:ext cx="11912023" cy="3755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996"/>
              </a:lnSpc>
            </a:pPr>
            <a:r>
              <a:rPr lang="en-US" sz="10711" dirty="0">
                <a:solidFill>
                  <a:srgbClr val="000000"/>
                </a:solidFill>
                <a:latin typeface="DM Serif Display" pitchFamily="2" charset="0"/>
                <a:ea typeface="Roboto Bold"/>
                <a:cs typeface="Roboto Bold"/>
                <a:sym typeface="Roboto Bold"/>
              </a:rPr>
              <a:t>Merci pour </a:t>
            </a:r>
            <a:r>
              <a:rPr lang="en-US" sz="10711" dirty="0" err="1">
                <a:solidFill>
                  <a:srgbClr val="000000"/>
                </a:solidFill>
                <a:latin typeface="DM Serif Display" pitchFamily="2" charset="0"/>
                <a:ea typeface="Roboto Bold"/>
                <a:cs typeface="Roboto Bold"/>
                <a:sym typeface="Roboto Bold"/>
              </a:rPr>
              <a:t>votre</a:t>
            </a:r>
            <a:r>
              <a:rPr lang="en-US" sz="10711" dirty="0">
                <a:solidFill>
                  <a:srgbClr val="000000"/>
                </a:solidFill>
                <a:latin typeface="DM Serif Display" pitchFamily="2" charset="0"/>
                <a:ea typeface="Roboto Bold"/>
                <a:cs typeface="Roboto Bold"/>
                <a:sym typeface="Roboto Bold"/>
              </a:rPr>
              <a:t> attention</a:t>
            </a:r>
            <a:r>
              <a:rPr lang="en-US" sz="10711" b="1" spc="-353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00018" y="7710999"/>
            <a:ext cx="7887958" cy="444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3200" dirty="0">
                <a:solidFill>
                  <a:srgbClr val="000000"/>
                </a:solidFill>
                <a:latin typeface="DM Sans 14pt Medium" pitchFamily="2" charset="0"/>
                <a:ea typeface="Poppins"/>
                <a:cs typeface="Poppins"/>
                <a:sym typeface="Poppins"/>
              </a:rPr>
              <a:t>AVEZ-VOUS DES QUESTIONS ?</a:t>
            </a:r>
          </a:p>
        </p:txBody>
      </p:sp>
    </p:spTree>
    <p:extLst>
      <p:ext uri="{BB962C8B-B14F-4D97-AF65-F5344CB8AC3E}">
        <p14:creationId xmlns:p14="http://schemas.microsoft.com/office/powerpoint/2010/main" val="410592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3019</TotalTime>
  <Words>557</Words>
  <Application>Microsoft Office PowerPoint</Application>
  <PresentationFormat>Custom</PresentationFormat>
  <Paragraphs>189</Paragraphs>
  <Slides>42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4" baseType="lpstr">
      <vt:lpstr>Arial</vt:lpstr>
      <vt:lpstr>DM Sans 14pt</vt:lpstr>
      <vt:lpstr>DM Sans 14pt Medium</vt:lpstr>
      <vt:lpstr>Lato</vt:lpstr>
      <vt:lpstr>DM Sans</vt:lpstr>
      <vt:lpstr>DM Serif Display Regular</vt:lpstr>
      <vt:lpstr>Calibri</vt:lpstr>
      <vt:lpstr>DM Sans 24pt SemiBold</vt:lpstr>
      <vt:lpstr>Glory</vt:lpstr>
      <vt:lpstr>DM Serif Display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E Nkoulou</dc:creator>
  <cp:lastModifiedBy>Joseph E Nkoulou</cp:lastModifiedBy>
  <cp:revision>21</cp:revision>
  <dcterms:created xsi:type="dcterms:W3CDTF">2006-08-16T00:00:00Z</dcterms:created>
  <dcterms:modified xsi:type="dcterms:W3CDTF">2026-02-24T10:23:02Z</dcterms:modified>
  <dc:identifier>DAGrKmPB-zQ</dc:identifier>
</cp:coreProperties>
</file>